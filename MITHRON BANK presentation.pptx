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8288000" cy="10287000"/>
  <p:notesSz cx="6858000" cy="9144000"/>
  <p:embeddedFontLst>
    <p:embeddedFont>
      <p:font typeface="Poppins" panose="00000500000000000000"/>
      <p:regular r:id="rId24"/>
    </p:embeddedFont>
    <p:embeddedFont>
      <p:font typeface="Canva Sans Bold" panose="020B0803030501040103"/>
      <p:bold r:id="rId25"/>
    </p:embeddedFont>
    <p:embeddedFont>
      <p:font typeface="Poppins Bold" panose="00000800000000000000"/>
      <p:bold r:id="rId26"/>
    </p:embeddedFont>
    <p:embeddedFont>
      <p:font typeface="Canva Sans" panose="020B0503030501040103"/>
      <p:regular r:id="rId27"/>
    </p:embeddedFont>
    <p:embeddedFont>
      <p:font typeface="Calibri" panose="020F050202020403020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font" Target="fonts/font8.fntdata"/><Relationship Id="rId30" Type="http://schemas.openxmlformats.org/officeDocument/2006/relationships/font" Target="fonts/font7.fntdata"/><Relationship Id="rId3" Type="http://schemas.openxmlformats.org/officeDocument/2006/relationships/slide" Target="slides/slide1.xml"/><Relationship Id="rId29" Type="http://schemas.openxmlformats.org/officeDocument/2006/relationships/font" Target="fonts/font6.fntdata"/><Relationship Id="rId28" Type="http://schemas.openxmlformats.org/officeDocument/2006/relationships/font" Target="fonts/font5.fntdata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8.GIF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66927" y="-4280359"/>
            <a:ext cx="10812392" cy="10812392"/>
          </a:xfrm>
          <a:custGeom>
            <a:avLst/>
            <a:gdLst/>
            <a:ahLst/>
            <a:cxnLst/>
            <a:rect l="l" t="t" r="r" b="b"/>
            <a:pathLst>
              <a:path w="10812392" h="10812392">
                <a:moveTo>
                  <a:pt x="0" y="0"/>
                </a:moveTo>
                <a:lnTo>
                  <a:pt x="10812393" y="0"/>
                </a:lnTo>
                <a:lnTo>
                  <a:pt x="10812393" y="10812392"/>
                </a:lnTo>
                <a:lnTo>
                  <a:pt x="0" y="1081239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407200" y="4432068"/>
            <a:ext cx="5764383" cy="5764383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3"/>
                </a:lnTo>
                <a:lnTo>
                  <a:pt x="0" y="576438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7078" y="7902203"/>
            <a:ext cx="5764383" cy="5764383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2"/>
                </a:lnTo>
                <a:lnTo>
                  <a:pt x="0" y="576438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8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563407"/>
            <a:ext cx="3868662" cy="3868662"/>
          </a:xfrm>
          <a:custGeom>
            <a:avLst/>
            <a:gdLst/>
            <a:ahLst/>
            <a:cxnLst/>
            <a:rect l="l" t="t" r="r" b="b"/>
            <a:pathLst>
              <a:path w="3868662" h="3868662">
                <a:moveTo>
                  <a:pt x="0" y="0"/>
                </a:moveTo>
                <a:lnTo>
                  <a:pt x="3868662" y="0"/>
                </a:lnTo>
                <a:lnTo>
                  <a:pt x="3868662" y="3868661"/>
                </a:lnTo>
                <a:lnTo>
                  <a:pt x="0" y="38686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144000" y="6786274"/>
            <a:ext cx="7874231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</a:p>
        </p:txBody>
      </p:sp>
      <p:sp>
        <p:nvSpPr>
          <p:cNvPr id="7" name="TextBox 7"/>
          <p:cNvSpPr txBox="1"/>
          <p:nvPr/>
        </p:nvSpPr>
        <p:spPr>
          <a:xfrm>
            <a:off x="490589" y="3508816"/>
            <a:ext cx="4897362" cy="342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spcBef>
                <a:spcPct val="0"/>
              </a:spcBef>
            </a:pPr>
            <a:r>
              <a:rPr lang="en-US" sz="189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Where Trust Meets Innovation</a:t>
            </a:r>
            <a:endParaRPr lang="en-US" sz="189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137455" y="2359375"/>
            <a:ext cx="10363684" cy="2072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65"/>
              </a:lnSpc>
            </a:pPr>
            <a:r>
              <a:rPr lang="en-US" sz="5975" b="1">
                <a:solidFill>
                  <a:srgbClr val="8D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Credit Card Pilot project Analysis  </a:t>
            </a:r>
            <a:endParaRPr lang="en-US" sz="5975" b="1">
              <a:solidFill>
                <a:srgbClr val="8D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244499" y="6056013"/>
            <a:ext cx="8149596" cy="787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500" b="1">
                <a:solidFill>
                  <a:srgbClr val="00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Mohammed Hashir</a:t>
            </a:r>
            <a:endParaRPr lang="en-US" sz="5500" b="1">
              <a:solidFill>
                <a:srgbClr val="00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3503507">
            <a:off x="-7720970" y="380304"/>
            <a:ext cx="12583451" cy="7382737"/>
            <a:chOff x="0" y="0"/>
            <a:chExt cx="3314160" cy="19444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14160" cy="1944425"/>
            </a:xfrm>
            <a:custGeom>
              <a:avLst/>
              <a:gdLst/>
              <a:ahLst/>
              <a:cxnLst/>
              <a:rect l="l" t="t" r="r" b="b"/>
              <a:pathLst>
                <a:path w="3314160" h="1944425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FABEC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sp>
        <p:nvSpPr>
          <p:cNvPr id="5" name="AutoShape 5"/>
          <p:cNvSpPr/>
          <p:nvPr/>
        </p:nvSpPr>
        <p:spPr>
          <a:xfrm>
            <a:off x="-2618758" y="3424265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 rot="0">
            <a:off x="-1753856" y="9614819"/>
            <a:ext cx="5565113" cy="672181"/>
            <a:chOff x="0" y="0"/>
            <a:chExt cx="1465709" cy="1770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14476744" y="0"/>
            <a:ext cx="5565113" cy="672181"/>
            <a:chOff x="0" y="0"/>
            <a:chExt cx="1465709" cy="1770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sp>
        <p:nvSpPr>
          <p:cNvPr id="12" name="Freeform 12"/>
          <p:cNvSpPr/>
          <p:nvPr/>
        </p:nvSpPr>
        <p:spPr>
          <a:xfrm>
            <a:off x="4776077" y="4729716"/>
            <a:ext cx="3612990" cy="3612990"/>
          </a:xfrm>
          <a:custGeom>
            <a:avLst/>
            <a:gdLst/>
            <a:ahLst/>
            <a:cxnLst/>
            <a:rect l="l" t="t" r="r" b="b"/>
            <a:pathLst>
              <a:path w="3612990" h="3612990">
                <a:moveTo>
                  <a:pt x="0" y="0"/>
                </a:moveTo>
                <a:lnTo>
                  <a:pt x="3612989" y="0"/>
                </a:lnTo>
                <a:lnTo>
                  <a:pt x="3612989" y="3612990"/>
                </a:lnTo>
                <a:lnTo>
                  <a:pt x="0" y="361299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r="-8486" b="-8486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008191" y="4729716"/>
            <a:ext cx="3612990" cy="3612990"/>
          </a:xfrm>
          <a:custGeom>
            <a:avLst/>
            <a:gdLst/>
            <a:ahLst/>
            <a:cxnLst/>
            <a:rect l="l" t="t" r="r" b="b"/>
            <a:pathLst>
              <a:path w="3612990" h="3612990">
                <a:moveTo>
                  <a:pt x="0" y="0"/>
                </a:moveTo>
                <a:lnTo>
                  <a:pt x="3612990" y="0"/>
                </a:lnTo>
                <a:lnTo>
                  <a:pt x="3612990" y="3612990"/>
                </a:lnTo>
                <a:lnTo>
                  <a:pt x="0" y="3612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239727" y="4729716"/>
            <a:ext cx="3612990" cy="3612990"/>
          </a:xfrm>
          <a:custGeom>
            <a:avLst/>
            <a:gdLst/>
            <a:ahLst/>
            <a:cxnLst/>
            <a:rect l="l" t="t" r="r" b="b"/>
            <a:pathLst>
              <a:path w="3612990" h="3612990">
                <a:moveTo>
                  <a:pt x="0" y="0"/>
                </a:moveTo>
                <a:lnTo>
                  <a:pt x="3612990" y="0"/>
                </a:lnTo>
                <a:lnTo>
                  <a:pt x="3612990" y="3612990"/>
                </a:lnTo>
                <a:lnTo>
                  <a:pt x="0" y="36129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543962" y="4729716"/>
            <a:ext cx="3612990" cy="3612990"/>
          </a:xfrm>
          <a:custGeom>
            <a:avLst/>
            <a:gdLst/>
            <a:ahLst/>
            <a:cxnLst/>
            <a:rect l="l" t="t" r="r" b="b"/>
            <a:pathLst>
              <a:path w="3612990" h="3612990">
                <a:moveTo>
                  <a:pt x="0" y="0"/>
                </a:moveTo>
                <a:lnTo>
                  <a:pt x="3612990" y="0"/>
                </a:lnTo>
                <a:lnTo>
                  <a:pt x="3612990" y="3612990"/>
                </a:lnTo>
                <a:lnTo>
                  <a:pt x="0" y="36129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840332" y="672181"/>
            <a:ext cx="3423051" cy="1109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 b="1">
                <a:solidFill>
                  <a:srgbClr val="00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Our </a:t>
            </a:r>
            <a:endParaRPr lang="en-US" sz="7700" b="1">
              <a:solidFill>
                <a:srgbClr val="00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840332" y="1534519"/>
            <a:ext cx="8150626" cy="161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0"/>
              </a:lnSpc>
            </a:pPr>
            <a:r>
              <a:rPr lang="en-US" sz="9000" b="1" spc="845">
                <a:solidFill>
                  <a:srgbClr val="8D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CUSTOMERS</a:t>
            </a:r>
            <a:endParaRPr lang="en-US" sz="9000" b="1" spc="845">
              <a:solidFill>
                <a:srgbClr val="8D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618758" y="3424265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 rot="0">
            <a:off x="-1753856" y="9429895"/>
            <a:ext cx="7669501" cy="857105"/>
            <a:chOff x="0" y="0"/>
            <a:chExt cx="2019951" cy="2257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19951" cy="225740"/>
            </a:xfrm>
            <a:custGeom>
              <a:avLst/>
              <a:gdLst/>
              <a:ahLst/>
              <a:cxnLst/>
              <a:rect l="l" t="t" r="r" b="b"/>
              <a:pathLst>
                <a:path w="2019951" h="225740">
                  <a:moveTo>
                    <a:pt x="51482" y="0"/>
                  </a:moveTo>
                  <a:lnTo>
                    <a:pt x="1968469" y="0"/>
                  </a:lnTo>
                  <a:cubicBezTo>
                    <a:pt x="1982123" y="0"/>
                    <a:pt x="1995218" y="5424"/>
                    <a:pt x="2004872" y="15079"/>
                  </a:cubicBezTo>
                  <a:cubicBezTo>
                    <a:pt x="2014527" y="24733"/>
                    <a:pt x="2019951" y="37828"/>
                    <a:pt x="2019951" y="51482"/>
                  </a:cubicBezTo>
                  <a:lnTo>
                    <a:pt x="2019951" y="174258"/>
                  </a:lnTo>
                  <a:cubicBezTo>
                    <a:pt x="2019951" y="187912"/>
                    <a:pt x="2014527" y="201006"/>
                    <a:pt x="2004872" y="210661"/>
                  </a:cubicBezTo>
                  <a:cubicBezTo>
                    <a:pt x="1995218" y="220316"/>
                    <a:pt x="1982123" y="225740"/>
                    <a:pt x="1968469" y="225740"/>
                  </a:cubicBezTo>
                  <a:lnTo>
                    <a:pt x="51482" y="225740"/>
                  </a:lnTo>
                  <a:cubicBezTo>
                    <a:pt x="37828" y="225740"/>
                    <a:pt x="24733" y="220316"/>
                    <a:pt x="15079" y="210661"/>
                  </a:cubicBezTo>
                  <a:cubicBezTo>
                    <a:pt x="5424" y="201006"/>
                    <a:pt x="0" y="187912"/>
                    <a:pt x="0" y="174258"/>
                  </a:cubicBezTo>
                  <a:lnTo>
                    <a:pt x="0" y="51482"/>
                  </a:lnTo>
                  <a:cubicBezTo>
                    <a:pt x="0" y="37828"/>
                    <a:pt x="5424" y="24733"/>
                    <a:pt x="15079" y="15079"/>
                  </a:cubicBezTo>
                  <a:cubicBezTo>
                    <a:pt x="24733" y="5424"/>
                    <a:pt x="37828" y="0"/>
                    <a:pt x="51482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33375"/>
              <a:ext cx="2019951" cy="5591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14476744" y="0"/>
            <a:ext cx="5565113" cy="672181"/>
            <a:chOff x="0" y="0"/>
            <a:chExt cx="1465709" cy="1770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-3503507">
            <a:off x="11132721" y="9313682"/>
            <a:ext cx="5469118" cy="3987763"/>
            <a:chOff x="0" y="0"/>
            <a:chExt cx="1440426" cy="10502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40426" cy="1050275"/>
            </a:xfrm>
            <a:custGeom>
              <a:avLst/>
              <a:gdLst/>
              <a:ahLst/>
              <a:cxnLst/>
              <a:rect l="l" t="t" r="r" b="b"/>
              <a:pathLst>
                <a:path w="1440426" h="1050275">
                  <a:moveTo>
                    <a:pt x="72194" y="0"/>
                  </a:moveTo>
                  <a:lnTo>
                    <a:pt x="1368232" y="0"/>
                  </a:lnTo>
                  <a:cubicBezTo>
                    <a:pt x="1387379" y="0"/>
                    <a:pt x="1405742" y="7606"/>
                    <a:pt x="1419281" y="21145"/>
                  </a:cubicBezTo>
                  <a:cubicBezTo>
                    <a:pt x="1432820" y="34684"/>
                    <a:pt x="1440426" y="53047"/>
                    <a:pt x="1440426" y="72194"/>
                  </a:cubicBezTo>
                  <a:lnTo>
                    <a:pt x="1440426" y="978081"/>
                  </a:lnTo>
                  <a:cubicBezTo>
                    <a:pt x="1440426" y="997228"/>
                    <a:pt x="1432820" y="1015591"/>
                    <a:pt x="1419281" y="1029130"/>
                  </a:cubicBezTo>
                  <a:cubicBezTo>
                    <a:pt x="1405742" y="1042669"/>
                    <a:pt x="1387379" y="1050275"/>
                    <a:pt x="1368232" y="1050275"/>
                  </a:cubicBezTo>
                  <a:lnTo>
                    <a:pt x="72194" y="1050275"/>
                  </a:lnTo>
                  <a:cubicBezTo>
                    <a:pt x="53047" y="1050275"/>
                    <a:pt x="34684" y="1042669"/>
                    <a:pt x="21145" y="1029130"/>
                  </a:cubicBezTo>
                  <a:cubicBezTo>
                    <a:pt x="7606" y="1015591"/>
                    <a:pt x="0" y="997228"/>
                    <a:pt x="0" y="978081"/>
                  </a:cubicBezTo>
                  <a:lnTo>
                    <a:pt x="0" y="72194"/>
                  </a:lnTo>
                  <a:cubicBezTo>
                    <a:pt x="0" y="53047"/>
                    <a:pt x="7606" y="34684"/>
                    <a:pt x="21145" y="21145"/>
                  </a:cubicBezTo>
                  <a:cubicBezTo>
                    <a:pt x="34684" y="7606"/>
                    <a:pt x="53047" y="0"/>
                    <a:pt x="72194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33375"/>
              <a:ext cx="1440426" cy="1383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sp>
        <p:nvSpPr>
          <p:cNvPr id="12" name="Freeform 12"/>
          <p:cNvSpPr/>
          <p:nvPr/>
        </p:nvSpPr>
        <p:spPr>
          <a:xfrm>
            <a:off x="2230477" y="5069322"/>
            <a:ext cx="14366886" cy="2629944"/>
          </a:xfrm>
          <a:custGeom>
            <a:avLst/>
            <a:gdLst/>
            <a:ahLst/>
            <a:cxnLst/>
            <a:rect l="l" t="t" r="r" b="b"/>
            <a:pathLst>
              <a:path w="14366886" h="2629944">
                <a:moveTo>
                  <a:pt x="0" y="0"/>
                </a:moveTo>
                <a:lnTo>
                  <a:pt x="14366886" y="0"/>
                </a:lnTo>
                <a:lnTo>
                  <a:pt x="14366886" y="2629944"/>
                </a:lnTo>
                <a:lnTo>
                  <a:pt x="0" y="262994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840332" y="672181"/>
            <a:ext cx="3423051" cy="1109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Key</a:t>
            </a:r>
            <a:endParaRPr lang="en-US" sz="77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840332" y="1534519"/>
            <a:ext cx="8150626" cy="161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0"/>
              </a:lnSpc>
            </a:pPr>
            <a:r>
              <a:rPr lang="en-US" sz="9000" b="1" spc="845">
                <a:solidFill>
                  <a:srgbClr val="8D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METRICS</a:t>
            </a:r>
            <a:endParaRPr lang="en-US" sz="9000" b="1" spc="845">
              <a:solidFill>
                <a:srgbClr val="8D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0" y="9548144"/>
            <a:ext cx="5263382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0" lvl="1" indent="-269875" algn="ctr">
              <a:lnSpc>
                <a:spcPts val="35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Data for 6 months, May - Oct 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827398" y="1796456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 rot="0">
            <a:off x="-1753856" y="9614819"/>
            <a:ext cx="5565113" cy="672181"/>
            <a:chOff x="0" y="0"/>
            <a:chExt cx="1465709" cy="1770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14476744" y="0"/>
            <a:ext cx="5565113" cy="672181"/>
            <a:chOff x="0" y="0"/>
            <a:chExt cx="1465709" cy="1770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-3503507">
            <a:off x="-1839914" y="8154245"/>
            <a:ext cx="6972581" cy="4300566"/>
            <a:chOff x="0" y="0"/>
            <a:chExt cx="1836400" cy="11326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36400" cy="1132659"/>
            </a:xfrm>
            <a:custGeom>
              <a:avLst/>
              <a:gdLst/>
              <a:ahLst/>
              <a:cxnLst/>
              <a:rect l="l" t="t" r="r" b="b"/>
              <a:pathLst>
                <a:path w="1836400" h="1132659">
                  <a:moveTo>
                    <a:pt x="56627" y="0"/>
                  </a:moveTo>
                  <a:lnTo>
                    <a:pt x="1779773" y="0"/>
                  </a:lnTo>
                  <a:cubicBezTo>
                    <a:pt x="1794791" y="0"/>
                    <a:pt x="1809195" y="5966"/>
                    <a:pt x="1819814" y="16586"/>
                  </a:cubicBezTo>
                  <a:cubicBezTo>
                    <a:pt x="1830434" y="27205"/>
                    <a:pt x="1836400" y="41609"/>
                    <a:pt x="1836400" y="56627"/>
                  </a:cubicBezTo>
                  <a:lnTo>
                    <a:pt x="1836400" y="1076032"/>
                  </a:lnTo>
                  <a:cubicBezTo>
                    <a:pt x="1836400" y="1107306"/>
                    <a:pt x="1811047" y="1132659"/>
                    <a:pt x="1779773" y="1132659"/>
                  </a:cubicBezTo>
                  <a:lnTo>
                    <a:pt x="56627" y="1132659"/>
                  </a:lnTo>
                  <a:cubicBezTo>
                    <a:pt x="25353" y="1132659"/>
                    <a:pt x="0" y="1107306"/>
                    <a:pt x="0" y="1076032"/>
                  </a:cubicBezTo>
                  <a:lnTo>
                    <a:pt x="0" y="56627"/>
                  </a:lnTo>
                  <a:cubicBezTo>
                    <a:pt x="0" y="25353"/>
                    <a:pt x="25353" y="0"/>
                    <a:pt x="56627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33375"/>
              <a:ext cx="1836400" cy="1466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sp>
        <p:nvSpPr>
          <p:cNvPr id="12" name="Freeform 12"/>
          <p:cNvSpPr/>
          <p:nvPr/>
        </p:nvSpPr>
        <p:spPr>
          <a:xfrm>
            <a:off x="6350131" y="3834498"/>
            <a:ext cx="5226155" cy="4113741"/>
          </a:xfrm>
          <a:custGeom>
            <a:avLst/>
            <a:gdLst/>
            <a:ahLst/>
            <a:cxnLst/>
            <a:rect l="l" t="t" r="r" b="b"/>
            <a:pathLst>
              <a:path w="5226155" h="4113741">
                <a:moveTo>
                  <a:pt x="0" y="0"/>
                </a:moveTo>
                <a:lnTo>
                  <a:pt x="5226155" y="0"/>
                </a:lnTo>
                <a:lnTo>
                  <a:pt x="5226155" y="4113740"/>
                </a:lnTo>
                <a:lnTo>
                  <a:pt x="0" y="411374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431" r="-431" b="-1950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840332" y="672181"/>
            <a:ext cx="4459090" cy="1109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Income</a:t>
            </a:r>
            <a:endParaRPr lang="en-US" sz="77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299421" y="162919"/>
            <a:ext cx="9333465" cy="161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0"/>
              </a:lnSpc>
            </a:pPr>
            <a:r>
              <a:rPr lang="en-US" sz="9000" b="1" spc="845">
                <a:solidFill>
                  <a:srgbClr val="8D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UTILISATION</a:t>
            </a:r>
            <a:endParaRPr lang="en-US" sz="9000" b="1" spc="845">
              <a:solidFill>
                <a:srgbClr val="8D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0" y="9548144"/>
            <a:ext cx="5263382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0" lvl="1" indent="-269875" algn="ctr">
              <a:lnSpc>
                <a:spcPts val="35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Data for 6 months, May - Oct 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649925" y="2877544"/>
            <a:ext cx="642377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1">
                <a:solidFill>
                  <a:srgbClr val="8D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Highest Income utilization</a:t>
            </a:r>
            <a:endParaRPr lang="en-US" sz="3400" b="1">
              <a:solidFill>
                <a:srgbClr val="8D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0" y="2877544"/>
            <a:ext cx="642377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1">
                <a:solidFill>
                  <a:srgbClr val="8D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Lowest Income utilization </a:t>
            </a:r>
            <a:endParaRPr lang="en-US" sz="3400" b="1">
              <a:solidFill>
                <a:srgbClr val="8D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063242" y="3777348"/>
            <a:ext cx="6224758" cy="166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Age group : 35 - 45 </a:t>
            </a:r>
            <a:endParaRPr lang="en-US" sz="320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Gender : Male</a:t>
            </a:r>
            <a:endParaRPr lang="en-US" sz="320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Marital Status : Married</a:t>
            </a:r>
            <a:endParaRPr lang="en-US" sz="320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98025" y="3777348"/>
            <a:ext cx="6025745" cy="166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Age group : 45 +</a:t>
            </a:r>
            <a:endParaRPr lang="en-US" sz="320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Gender : Female</a:t>
            </a:r>
            <a:endParaRPr lang="en-US" sz="320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Marital Status : Single</a:t>
            </a:r>
            <a:endParaRPr lang="en-US" sz="320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1840332" y="3646216"/>
            <a:ext cx="3904104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>
            <a:off x="12063242" y="3660503"/>
            <a:ext cx="3904104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3272226" y="7525118"/>
            <a:ext cx="3620504" cy="117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1" spc="611">
                <a:solidFill>
                  <a:srgbClr val="8D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58.45%</a:t>
            </a:r>
            <a:endParaRPr lang="en-US" sz="6500" b="1" spc="611">
              <a:solidFill>
                <a:srgbClr val="8D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09191" y="7525118"/>
            <a:ext cx="4045000" cy="117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1" spc="611">
                <a:solidFill>
                  <a:srgbClr val="8D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25.88%</a:t>
            </a:r>
            <a:endParaRPr lang="en-US" sz="6500" b="1" spc="611">
              <a:solidFill>
                <a:srgbClr val="8D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827398" y="1796456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 rot="0">
            <a:off x="-1753856" y="9614819"/>
            <a:ext cx="5565113" cy="672181"/>
            <a:chOff x="0" y="0"/>
            <a:chExt cx="1465709" cy="1770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14476744" y="0"/>
            <a:ext cx="5565113" cy="672181"/>
            <a:chOff x="0" y="0"/>
            <a:chExt cx="1465709" cy="1770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-3503507">
            <a:off x="-1839914" y="8154245"/>
            <a:ext cx="6972581" cy="4300566"/>
            <a:chOff x="0" y="0"/>
            <a:chExt cx="1836400" cy="11326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36400" cy="1132659"/>
            </a:xfrm>
            <a:custGeom>
              <a:avLst/>
              <a:gdLst/>
              <a:ahLst/>
              <a:cxnLst/>
              <a:rect l="l" t="t" r="r" b="b"/>
              <a:pathLst>
                <a:path w="1836400" h="1132659">
                  <a:moveTo>
                    <a:pt x="56627" y="0"/>
                  </a:moveTo>
                  <a:lnTo>
                    <a:pt x="1779773" y="0"/>
                  </a:lnTo>
                  <a:cubicBezTo>
                    <a:pt x="1794791" y="0"/>
                    <a:pt x="1809195" y="5966"/>
                    <a:pt x="1819814" y="16586"/>
                  </a:cubicBezTo>
                  <a:cubicBezTo>
                    <a:pt x="1830434" y="27205"/>
                    <a:pt x="1836400" y="41609"/>
                    <a:pt x="1836400" y="56627"/>
                  </a:cubicBezTo>
                  <a:lnTo>
                    <a:pt x="1836400" y="1076032"/>
                  </a:lnTo>
                  <a:cubicBezTo>
                    <a:pt x="1836400" y="1107306"/>
                    <a:pt x="1811047" y="1132659"/>
                    <a:pt x="1779773" y="1132659"/>
                  </a:cubicBezTo>
                  <a:lnTo>
                    <a:pt x="56627" y="1132659"/>
                  </a:lnTo>
                  <a:cubicBezTo>
                    <a:pt x="25353" y="1132659"/>
                    <a:pt x="0" y="1107306"/>
                    <a:pt x="0" y="1076032"/>
                  </a:cubicBezTo>
                  <a:lnTo>
                    <a:pt x="0" y="56627"/>
                  </a:lnTo>
                  <a:cubicBezTo>
                    <a:pt x="0" y="25353"/>
                    <a:pt x="25353" y="0"/>
                    <a:pt x="56627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33375"/>
              <a:ext cx="1836400" cy="1466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66452" y="196256"/>
            <a:ext cx="9333465" cy="161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0"/>
              </a:lnSpc>
            </a:pPr>
            <a:r>
              <a:rPr lang="en-US" sz="9000" b="1" spc="845">
                <a:solidFill>
                  <a:srgbClr val="8D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EXPENDITURE</a:t>
            </a:r>
            <a:endParaRPr lang="en-US" sz="9000" b="1" spc="845">
              <a:solidFill>
                <a:srgbClr val="8D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595055" y="3222586"/>
            <a:ext cx="6320856" cy="702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15"/>
              </a:lnSpc>
            </a:pPr>
            <a:r>
              <a:rPr lang="en-US" sz="4150" b="1">
                <a:solidFill>
                  <a:srgbClr val="8D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High Spenders</a:t>
            </a:r>
            <a:endParaRPr lang="en-US" sz="4150" b="1">
              <a:solidFill>
                <a:srgbClr val="8D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274114" y="3222586"/>
            <a:ext cx="6717981" cy="702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815"/>
              </a:lnSpc>
            </a:pPr>
            <a:r>
              <a:rPr lang="en-US" sz="4150" b="1">
                <a:solidFill>
                  <a:srgbClr val="8D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Low Spenders</a:t>
            </a:r>
            <a:endParaRPr lang="en-US" sz="4150" b="1">
              <a:solidFill>
                <a:srgbClr val="8D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478095" y="4547765"/>
            <a:ext cx="7523535" cy="2545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5"/>
              </a:lnSpc>
            </a:pPr>
            <a:r>
              <a:rPr lang="en-US" sz="363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Age group : 25 - 45 </a:t>
            </a:r>
            <a:endParaRPr lang="en-US" sz="3635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5085"/>
              </a:lnSpc>
            </a:pPr>
            <a:r>
              <a:rPr lang="en-US" sz="363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Gender : Male</a:t>
            </a:r>
            <a:endParaRPr lang="en-US" sz="3635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5085"/>
              </a:lnSpc>
            </a:pPr>
            <a:r>
              <a:rPr lang="en-US" sz="363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Marital Status : Married</a:t>
            </a:r>
            <a:endParaRPr lang="en-US" sz="3635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5085"/>
              </a:lnSpc>
            </a:pPr>
          </a:p>
        </p:txBody>
      </p:sp>
      <p:sp>
        <p:nvSpPr>
          <p:cNvPr id="16" name="TextBox 16"/>
          <p:cNvSpPr txBox="1"/>
          <p:nvPr/>
        </p:nvSpPr>
        <p:spPr>
          <a:xfrm>
            <a:off x="200025" y="4547765"/>
            <a:ext cx="8993589" cy="2545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085"/>
              </a:lnSpc>
            </a:pPr>
            <a:r>
              <a:rPr lang="en-US" sz="363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Age group : 45 +</a:t>
            </a:r>
            <a:endParaRPr lang="en-US" sz="3635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r">
              <a:lnSpc>
                <a:spcPts val="5085"/>
              </a:lnSpc>
            </a:pPr>
            <a:r>
              <a:rPr lang="en-US" sz="363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Gender : Female</a:t>
            </a:r>
            <a:endParaRPr lang="en-US" sz="3635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r">
              <a:lnSpc>
                <a:spcPts val="5085"/>
              </a:lnSpc>
            </a:pPr>
            <a:r>
              <a:rPr lang="en-US" sz="363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Occupation : Govt Employee</a:t>
            </a:r>
            <a:endParaRPr lang="en-US" sz="3635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r">
              <a:lnSpc>
                <a:spcPts val="5085"/>
              </a:lnSpc>
            </a:pPr>
          </a:p>
        </p:txBody>
      </p:sp>
      <p:sp>
        <p:nvSpPr>
          <p:cNvPr id="17" name="AutoShape 17"/>
          <p:cNvSpPr/>
          <p:nvPr/>
        </p:nvSpPr>
        <p:spPr>
          <a:xfrm>
            <a:off x="2834650" y="4269760"/>
            <a:ext cx="6157444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flipV="1">
            <a:off x="10595055" y="4269760"/>
            <a:ext cx="6320856" cy="148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10595055" y="6961710"/>
            <a:ext cx="3842493" cy="1130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20"/>
              </a:lnSpc>
            </a:pPr>
            <a:r>
              <a:rPr lang="en-US" sz="6230" b="1" spc="585">
                <a:solidFill>
                  <a:srgbClr val="8D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37.58 M</a:t>
            </a:r>
            <a:endParaRPr lang="en-US" sz="6230" b="1" spc="585">
              <a:solidFill>
                <a:srgbClr val="8D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3826405" y="7015525"/>
            <a:ext cx="5367209" cy="1130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720"/>
              </a:lnSpc>
            </a:pPr>
            <a:r>
              <a:rPr lang="en-US" sz="6230" b="1" spc="585">
                <a:solidFill>
                  <a:srgbClr val="8D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3.39 M</a:t>
            </a:r>
            <a:endParaRPr lang="en-US" sz="6230" b="1" spc="585">
              <a:solidFill>
                <a:srgbClr val="8D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grpSp>
        <p:nvGrpSpPr>
          <p:cNvPr id="21" name="Group 21"/>
          <p:cNvGrpSpPr/>
          <p:nvPr/>
        </p:nvGrpSpPr>
        <p:grpSpPr>
          <a:xfrm rot="0">
            <a:off x="-1753856" y="9429895"/>
            <a:ext cx="7669501" cy="857105"/>
            <a:chOff x="0" y="0"/>
            <a:chExt cx="2019951" cy="2257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19951" cy="225740"/>
            </a:xfrm>
            <a:custGeom>
              <a:avLst/>
              <a:gdLst/>
              <a:ahLst/>
              <a:cxnLst/>
              <a:rect l="l" t="t" r="r" b="b"/>
              <a:pathLst>
                <a:path w="2019951" h="225740">
                  <a:moveTo>
                    <a:pt x="51482" y="0"/>
                  </a:moveTo>
                  <a:lnTo>
                    <a:pt x="1968469" y="0"/>
                  </a:lnTo>
                  <a:cubicBezTo>
                    <a:pt x="1982123" y="0"/>
                    <a:pt x="1995218" y="5424"/>
                    <a:pt x="2004872" y="15079"/>
                  </a:cubicBezTo>
                  <a:cubicBezTo>
                    <a:pt x="2014527" y="24733"/>
                    <a:pt x="2019951" y="37828"/>
                    <a:pt x="2019951" y="51482"/>
                  </a:cubicBezTo>
                  <a:lnTo>
                    <a:pt x="2019951" y="174258"/>
                  </a:lnTo>
                  <a:cubicBezTo>
                    <a:pt x="2019951" y="187912"/>
                    <a:pt x="2014527" y="201006"/>
                    <a:pt x="2004872" y="210661"/>
                  </a:cubicBezTo>
                  <a:cubicBezTo>
                    <a:pt x="1995218" y="220316"/>
                    <a:pt x="1982123" y="225740"/>
                    <a:pt x="1968469" y="225740"/>
                  </a:cubicBezTo>
                  <a:lnTo>
                    <a:pt x="51482" y="225740"/>
                  </a:lnTo>
                  <a:cubicBezTo>
                    <a:pt x="37828" y="225740"/>
                    <a:pt x="24733" y="220316"/>
                    <a:pt x="15079" y="210661"/>
                  </a:cubicBezTo>
                  <a:cubicBezTo>
                    <a:pt x="5424" y="201006"/>
                    <a:pt x="0" y="187912"/>
                    <a:pt x="0" y="174258"/>
                  </a:cubicBezTo>
                  <a:lnTo>
                    <a:pt x="0" y="51482"/>
                  </a:lnTo>
                  <a:cubicBezTo>
                    <a:pt x="0" y="37828"/>
                    <a:pt x="5424" y="24733"/>
                    <a:pt x="15079" y="15079"/>
                  </a:cubicBezTo>
                  <a:cubicBezTo>
                    <a:pt x="24733" y="5424"/>
                    <a:pt x="37828" y="0"/>
                    <a:pt x="51482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33375"/>
              <a:ext cx="2019951" cy="5591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0" y="9548144"/>
            <a:ext cx="5263382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0" lvl="1" indent="-269875" algn="ctr">
              <a:lnSpc>
                <a:spcPts val="35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Data for 6 months, May - Oct 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827398" y="1796456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 rot="0">
            <a:off x="14476744" y="0"/>
            <a:ext cx="5565113" cy="672181"/>
            <a:chOff x="0" y="0"/>
            <a:chExt cx="1465709" cy="1770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1906821">
            <a:off x="13319779" y="9150433"/>
            <a:ext cx="9936441" cy="2273133"/>
            <a:chOff x="0" y="0"/>
            <a:chExt cx="2617005" cy="59868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17005" cy="598685"/>
            </a:xfrm>
            <a:custGeom>
              <a:avLst/>
              <a:gdLst/>
              <a:ahLst/>
              <a:cxnLst/>
              <a:rect l="l" t="t" r="r" b="b"/>
              <a:pathLst>
                <a:path w="2617005" h="598685">
                  <a:moveTo>
                    <a:pt x="39736" y="0"/>
                  </a:moveTo>
                  <a:lnTo>
                    <a:pt x="2577269" y="0"/>
                  </a:lnTo>
                  <a:cubicBezTo>
                    <a:pt x="2587808" y="0"/>
                    <a:pt x="2597915" y="4186"/>
                    <a:pt x="2605367" y="11639"/>
                  </a:cubicBezTo>
                  <a:cubicBezTo>
                    <a:pt x="2612819" y="19091"/>
                    <a:pt x="2617005" y="29198"/>
                    <a:pt x="2617005" y="39736"/>
                  </a:cubicBezTo>
                  <a:lnTo>
                    <a:pt x="2617005" y="558949"/>
                  </a:lnTo>
                  <a:cubicBezTo>
                    <a:pt x="2617005" y="580895"/>
                    <a:pt x="2599215" y="598685"/>
                    <a:pt x="2577269" y="598685"/>
                  </a:cubicBezTo>
                  <a:lnTo>
                    <a:pt x="39736" y="598685"/>
                  </a:lnTo>
                  <a:cubicBezTo>
                    <a:pt x="29198" y="598685"/>
                    <a:pt x="19091" y="594499"/>
                    <a:pt x="11639" y="587047"/>
                  </a:cubicBezTo>
                  <a:cubicBezTo>
                    <a:pt x="4186" y="579595"/>
                    <a:pt x="0" y="569488"/>
                    <a:pt x="0" y="558949"/>
                  </a:cubicBezTo>
                  <a:lnTo>
                    <a:pt x="0" y="39736"/>
                  </a:lnTo>
                  <a:cubicBezTo>
                    <a:pt x="0" y="29198"/>
                    <a:pt x="4186" y="19091"/>
                    <a:pt x="11639" y="11639"/>
                  </a:cubicBezTo>
                  <a:cubicBezTo>
                    <a:pt x="19091" y="4186"/>
                    <a:pt x="29198" y="0"/>
                    <a:pt x="39736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33375"/>
              <a:ext cx="2617005" cy="9320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sp>
        <p:nvSpPr>
          <p:cNvPr id="9" name="Freeform 9"/>
          <p:cNvSpPr/>
          <p:nvPr/>
        </p:nvSpPr>
        <p:spPr>
          <a:xfrm>
            <a:off x="1933395" y="4555036"/>
            <a:ext cx="14421210" cy="2149616"/>
          </a:xfrm>
          <a:custGeom>
            <a:avLst/>
            <a:gdLst/>
            <a:ahLst/>
            <a:cxnLst/>
            <a:rect l="l" t="t" r="r" b="b"/>
            <a:pathLst>
              <a:path w="14421210" h="2149616">
                <a:moveTo>
                  <a:pt x="0" y="0"/>
                </a:moveTo>
                <a:lnTo>
                  <a:pt x="14421210" y="0"/>
                </a:lnTo>
                <a:lnTo>
                  <a:pt x="14421210" y="2149616"/>
                </a:lnTo>
                <a:lnTo>
                  <a:pt x="0" y="214961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66452" y="196256"/>
            <a:ext cx="10378280" cy="161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0"/>
              </a:lnSpc>
            </a:pPr>
            <a:r>
              <a:rPr lang="en-US" sz="9000" b="1" spc="845">
                <a:solidFill>
                  <a:srgbClr val="8D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TRANSACTIONS</a:t>
            </a:r>
            <a:endParaRPr lang="en-US" sz="9000" b="1" spc="845">
              <a:solidFill>
                <a:srgbClr val="8D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grpSp>
        <p:nvGrpSpPr>
          <p:cNvPr id="11" name="Group 11"/>
          <p:cNvGrpSpPr/>
          <p:nvPr/>
        </p:nvGrpSpPr>
        <p:grpSpPr>
          <a:xfrm rot="0">
            <a:off x="-1753856" y="9429895"/>
            <a:ext cx="7669501" cy="857105"/>
            <a:chOff x="0" y="0"/>
            <a:chExt cx="2019951" cy="2257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19951" cy="225740"/>
            </a:xfrm>
            <a:custGeom>
              <a:avLst/>
              <a:gdLst/>
              <a:ahLst/>
              <a:cxnLst/>
              <a:rect l="l" t="t" r="r" b="b"/>
              <a:pathLst>
                <a:path w="2019951" h="225740">
                  <a:moveTo>
                    <a:pt x="51482" y="0"/>
                  </a:moveTo>
                  <a:lnTo>
                    <a:pt x="1968469" y="0"/>
                  </a:lnTo>
                  <a:cubicBezTo>
                    <a:pt x="1982123" y="0"/>
                    <a:pt x="1995218" y="5424"/>
                    <a:pt x="2004872" y="15079"/>
                  </a:cubicBezTo>
                  <a:cubicBezTo>
                    <a:pt x="2014527" y="24733"/>
                    <a:pt x="2019951" y="37828"/>
                    <a:pt x="2019951" y="51482"/>
                  </a:cubicBezTo>
                  <a:lnTo>
                    <a:pt x="2019951" y="174258"/>
                  </a:lnTo>
                  <a:cubicBezTo>
                    <a:pt x="2019951" y="187912"/>
                    <a:pt x="2014527" y="201006"/>
                    <a:pt x="2004872" y="210661"/>
                  </a:cubicBezTo>
                  <a:cubicBezTo>
                    <a:pt x="1995218" y="220316"/>
                    <a:pt x="1982123" y="225740"/>
                    <a:pt x="1968469" y="225740"/>
                  </a:cubicBezTo>
                  <a:lnTo>
                    <a:pt x="51482" y="225740"/>
                  </a:lnTo>
                  <a:cubicBezTo>
                    <a:pt x="37828" y="225740"/>
                    <a:pt x="24733" y="220316"/>
                    <a:pt x="15079" y="210661"/>
                  </a:cubicBezTo>
                  <a:cubicBezTo>
                    <a:pt x="5424" y="201006"/>
                    <a:pt x="0" y="187912"/>
                    <a:pt x="0" y="174258"/>
                  </a:cubicBezTo>
                  <a:lnTo>
                    <a:pt x="0" y="51482"/>
                  </a:lnTo>
                  <a:cubicBezTo>
                    <a:pt x="0" y="37828"/>
                    <a:pt x="5424" y="24733"/>
                    <a:pt x="15079" y="15079"/>
                  </a:cubicBezTo>
                  <a:cubicBezTo>
                    <a:pt x="24733" y="5424"/>
                    <a:pt x="37828" y="0"/>
                    <a:pt x="51482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33375"/>
              <a:ext cx="2019951" cy="5591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0" y="9548144"/>
            <a:ext cx="5263382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0" lvl="1" indent="-269875" algn="ctr">
              <a:lnSpc>
                <a:spcPts val="35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Data for 6 months, May - Oct 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827398" y="1796456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 rot="0">
            <a:off x="14476744" y="0"/>
            <a:ext cx="5565113" cy="672181"/>
            <a:chOff x="0" y="0"/>
            <a:chExt cx="1465709" cy="1770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66452" y="196256"/>
            <a:ext cx="10627045" cy="161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0"/>
              </a:lnSpc>
            </a:pPr>
            <a:r>
              <a:rPr lang="en-US" sz="9000" b="1" spc="845">
                <a:solidFill>
                  <a:srgbClr val="8D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PAYMENT MODE</a:t>
            </a:r>
            <a:endParaRPr lang="en-US" sz="9000" b="1" spc="845">
              <a:solidFill>
                <a:srgbClr val="8D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grpSp>
        <p:nvGrpSpPr>
          <p:cNvPr id="7" name="Group 7"/>
          <p:cNvGrpSpPr/>
          <p:nvPr/>
        </p:nvGrpSpPr>
        <p:grpSpPr>
          <a:xfrm rot="-2535377">
            <a:off x="-1438083" y="6214302"/>
            <a:ext cx="10363974" cy="4948119"/>
            <a:chOff x="0" y="0"/>
            <a:chExt cx="2729606" cy="130320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29606" cy="1303208"/>
            </a:xfrm>
            <a:custGeom>
              <a:avLst/>
              <a:gdLst/>
              <a:ahLst/>
              <a:cxnLst/>
              <a:rect l="l" t="t" r="r" b="b"/>
              <a:pathLst>
                <a:path w="2729606" h="1303208">
                  <a:moveTo>
                    <a:pt x="38097" y="0"/>
                  </a:moveTo>
                  <a:lnTo>
                    <a:pt x="2691509" y="0"/>
                  </a:lnTo>
                  <a:cubicBezTo>
                    <a:pt x="2712550" y="0"/>
                    <a:pt x="2729606" y="17057"/>
                    <a:pt x="2729606" y="38097"/>
                  </a:cubicBezTo>
                  <a:lnTo>
                    <a:pt x="2729606" y="1265111"/>
                  </a:lnTo>
                  <a:cubicBezTo>
                    <a:pt x="2729606" y="1286152"/>
                    <a:pt x="2712550" y="1303208"/>
                    <a:pt x="2691509" y="1303208"/>
                  </a:cubicBezTo>
                  <a:lnTo>
                    <a:pt x="38097" y="1303208"/>
                  </a:lnTo>
                  <a:cubicBezTo>
                    <a:pt x="17057" y="1303208"/>
                    <a:pt x="0" y="1286152"/>
                    <a:pt x="0" y="1265111"/>
                  </a:cubicBezTo>
                  <a:lnTo>
                    <a:pt x="0" y="38097"/>
                  </a:lnTo>
                  <a:cubicBezTo>
                    <a:pt x="0" y="17057"/>
                    <a:pt x="17057" y="0"/>
                    <a:pt x="38097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33375"/>
              <a:ext cx="2729606" cy="1636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sp>
        <p:nvSpPr>
          <p:cNvPr id="10" name="Freeform 10"/>
          <p:cNvSpPr/>
          <p:nvPr/>
        </p:nvSpPr>
        <p:spPr>
          <a:xfrm>
            <a:off x="9470598" y="3372584"/>
            <a:ext cx="8201361" cy="4888548"/>
          </a:xfrm>
          <a:custGeom>
            <a:avLst/>
            <a:gdLst/>
            <a:ahLst/>
            <a:cxnLst/>
            <a:rect l="l" t="t" r="r" b="b"/>
            <a:pathLst>
              <a:path w="8201361" h="4888548">
                <a:moveTo>
                  <a:pt x="0" y="0"/>
                </a:moveTo>
                <a:lnTo>
                  <a:pt x="8201361" y="0"/>
                </a:lnTo>
                <a:lnTo>
                  <a:pt x="8201361" y="4888548"/>
                </a:lnTo>
                <a:lnTo>
                  <a:pt x="0" y="488854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047" r="-2240" b="-5513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66452" y="3372584"/>
            <a:ext cx="7853089" cy="4888548"/>
          </a:xfrm>
          <a:custGeom>
            <a:avLst/>
            <a:gdLst/>
            <a:ahLst/>
            <a:cxnLst/>
            <a:rect l="l" t="t" r="r" b="b"/>
            <a:pathLst>
              <a:path w="7853089" h="4888548">
                <a:moveTo>
                  <a:pt x="0" y="0"/>
                </a:moveTo>
                <a:lnTo>
                  <a:pt x="7853089" y="0"/>
                </a:lnTo>
                <a:lnTo>
                  <a:pt x="7853089" y="4888548"/>
                </a:lnTo>
                <a:lnTo>
                  <a:pt x="0" y="48885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 rot="0">
            <a:off x="-1753856" y="9429895"/>
            <a:ext cx="7669501" cy="857105"/>
            <a:chOff x="0" y="0"/>
            <a:chExt cx="2019951" cy="2257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19951" cy="225740"/>
            </a:xfrm>
            <a:custGeom>
              <a:avLst/>
              <a:gdLst/>
              <a:ahLst/>
              <a:cxnLst/>
              <a:rect l="l" t="t" r="r" b="b"/>
              <a:pathLst>
                <a:path w="2019951" h="225740">
                  <a:moveTo>
                    <a:pt x="51482" y="0"/>
                  </a:moveTo>
                  <a:lnTo>
                    <a:pt x="1968469" y="0"/>
                  </a:lnTo>
                  <a:cubicBezTo>
                    <a:pt x="1982123" y="0"/>
                    <a:pt x="1995218" y="5424"/>
                    <a:pt x="2004872" y="15079"/>
                  </a:cubicBezTo>
                  <a:cubicBezTo>
                    <a:pt x="2014527" y="24733"/>
                    <a:pt x="2019951" y="37828"/>
                    <a:pt x="2019951" y="51482"/>
                  </a:cubicBezTo>
                  <a:lnTo>
                    <a:pt x="2019951" y="174258"/>
                  </a:lnTo>
                  <a:cubicBezTo>
                    <a:pt x="2019951" y="187912"/>
                    <a:pt x="2014527" y="201006"/>
                    <a:pt x="2004872" y="210661"/>
                  </a:cubicBezTo>
                  <a:cubicBezTo>
                    <a:pt x="1995218" y="220316"/>
                    <a:pt x="1982123" y="225740"/>
                    <a:pt x="1968469" y="225740"/>
                  </a:cubicBezTo>
                  <a:lnTo>
                    <a:pt x="51482" y="225740"/>
                  </a:lnTo>
                  <a:cubicBezTo>
                    <a:pt x="37828" y="225740"/>
                    <a:pt x="24733" y="220316"/>
                    <a:pt x="15079" y="210661"/>
                  </a:cubicBezTo>
                  <a:cubicBezTo>
                    <a:pt x="5424" y="201006"/>
                    <a:pt x="0" y="187912"/>
                    <a:pt x="0" y="174258"/>
                  </a:cubicBezTo>
                  <a:lnTo>
                    <a:pt x="0" y="51482"/>
                  </a:lnTo>
                  <a:cubicBezTo>
                    <a:pt x="0" y="37828"/>
                    <a:pt x="5424" y="24733"/>
                    <a:pt x="15079" y="15079"/>
                  </a:cubicBezTo>
                  <a:cubicBezTo>
                    <a:pt x="24733" y="5424"/>
                    <a:pt x="37828" y="0"/>
                    <a:pt x="51482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33375"/>
              <a:ext cx="2019951" cy="5591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0" y="9548144"/>
            <a:ext cx="5263382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0" lvl="1" indent="-269875" algn="ctr">
              <a:lnSpc>
                <a:spcPts val="35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Data for 6 months, May - Oct 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827398" y="1796456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 rot="-10800000">
            <a:off x="-1987040" y="-75147"/>
            <a:ext cx="5565113" cy="672181"/>
            <a:chOff x="0" y="0"/>
            <a:chExt cx="1465709" cy="1770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-2373577">
            <a:off x="-2883348" y="4720046"/>
            <a:ext cx="9426587" cy="5623206"/>
            <a:chOff x="0" y="0"/>
            <a:chExt cx="2482722" cy="148100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82722" cy="1481009"/>
            </a:xfrm>
            <a:custGeom>
              <a:avLst/>
              <a:gdLst/>
              <a:ahLst/>
              <a:cxnLst/>
              <a:rect l="l" t="t" r="r" b="b"/>
              <a:pathLst>
                <a:path w="2482722" h="1481009">
                  <a:moveTo>
                    <a:pt x="41886" y="0"/>
                  </a:moveTo>
                  <a:lnTo>
                    <a:pt x="2440837" y="0"/>
                  </a:lnTo>
                  <a:cubicBezTo>
                    <a:pt x="2451946" y="0"/>
                    <a:pt x="2462599" y="4413"/>
                    <a:pt x="2470454" y="12268"/>
                  </a:cubicBezTo>
                  <a:cubicBezTo>
                    <a:pt x="2478310" y="20123"/>
                    <a:pt x="2482722" y="30777"/>
                    <a:pt x="2482722" y="41886"/>
                  </a:cubicBezTo>
                  <a:lnTo>
                    <a:pt x="2482722" y="1439123"/>
                  </a:lnTo>
                  <a:cubicBezTo>
                    <a:pt x="2482722" y="1450232"/>
                    <a:pt x="2478310" y="1460886"/>
                    <a:pt x="2470454" y="1468741"/>
                  </a:cubicBezTo>
                  <a:cubicBezTo>
                    <a:pt x="2462599" y="1476596"/>
                    <a:pt x="2451946" y="1481009"/>
                    <a:pt x="2440837" y="1481009"/>
                  </a:cubicBezTo>
                  <a:lnTo>
                    <a:pt x="41886" y="1481009"/>
                  </a:lnTo>
                  <a:cubicBezTo>
                    <a:pt x="30777" y="1481009"/>
                    <a:pt x="20123" y="1476596"/>
                    <a:pt x="12268" y="1468741"/>
                  </a:cubicBezTo>
                  <a:cubicBezTo>
                    <a:pt x="4413" y="1460886"/>
                    <a:pt x="0" y="1450232"/>
                    <a:pt x="0" y="1439123"/>
                  </a:cubicBezTo>
                  <a:lnTo>
                    <a:pt x="0" y="41886"/>
                  </a:lnTo>
                  <a:cubicBezTo>
                    <a:pt x="0" y="30777"/>
                    <a:pt x="4413" y="20123"/>
                    <a:pt x="12268" y="12268"/>
                  </a:cubicBezTo>
                  <a:cubicBezTo>
                    <a:pt x="20123" y="4413"/>
                    <a:pt x="30777" y="0"/>
                    <a:pt x="41886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33375"/>
              <a:ext cx="2482722" cy="1814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95516" y="502281"/>
            <a:ext cx="6806262" cy="1109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Preferences</a:t>
            </a:r>
            <a:endParaRPr lang="en-US" sz="77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323199" y="216531"/>
            <a:ext cx="9126626" cy="159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15"/>
              </a:lnSpc>
            </a:pPr>
            <a:r>
              <a:rPr lang="en-US" sz="8865" b="1" spc="833">
                <a:solidFill>
                  <a:srgbClr val="8D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DEBIT CARDS</a:t>
            </a:r>
            <a:endParaRPr lang="en-US" sz="8865" b="1" spc="833">
              <a:solidFill>
                <a:srgbClr val="8D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246755" y="3953337"/>
            <a:ext cx="11794489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Total Value of Transactions </a:t>
            </a:r>
            <a:r>
              <a:rPr lang="en-US" sz="48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: </a:t>
            </a:r>
            <a:r>
              <a:rPr lang="en-US" sz="4800" b="1">
                <a:solidFill>
                  <a:srgbClr val="8D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Rs. 51.83 M</a:t>
            </a:r>
            <a:r>
              <a:rPr lang="en-US" sz="48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 </a:t>
            </a:r>
            <a:endParaRPr lang="en-US" sz="4800" b="1">
              <a:solidFill>
                <a:srgbClr val="00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323715" y="5165090"/>
            <a:ext cx="10527030" cy="8616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Number of Transactions </a:t>
            </a:r>
            <a:r>
              <a:rPr lang="en-US" sz="48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: </a:t>
            </a:r>
            <a:r>
              <a:rPr lang="en-US" sz="4800" b="1">
                <a:solidFill>
                  <a:srgbClr val="8D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68.74 K</a:t>
            </a:r>
            <a:endParaRPr lang="en-US" sz="4800" b="1">
              <a:solidFill>
                <a:srgbClr val="8D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515360" y="6376670"/>
            <a:ext cx="11750040" cy="8616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Average value of Transactions </a:t>
            </a:r>
            <a:r>
              <a:rPr lang="en-US" sz="48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: </a:t>
            </a:r>
            <a:r>
              <a:rPr lang="en-US" sz="4800" b="1">
                <a:solidFill>
                  <a:srgbClr val="8D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Rs. 753</a:t>
            </a:r>
            <a:endParaRPr lang="en-US" sz="4800" b="1">
              <a:solidFill>
                <a:srgbClr val="8D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grpSp>
        <p:nvGrpSpPr>
          <p:cNvPr id="14" name="Group 14"/>
          <p:cNvGrpSpPr/>
          <p:nvPr/>
        </p:nvGrpSpPr>
        <p:grpSpPr>
          <a:xfrm rot="0">
            <a:off x="-1753856" y="9429895"/>
            <a:ext cx="7669501" cy="857105"/>
            <a:chOff x="0" y="0"/>
            <a:chExt cx="2019951" cy="2257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19951" cy="225740"/>
            </a:xfrm>
            <a:custGeom>
              <a:avLst/>
              <a:gdLst/>
              <a:ahLst/>
              <a:cxnLst/>
              <a:rect l="l" t="t" r="r" b="b"/>
              <a:pathLst>
                <a:path w="2019951" h="225740">
                  <a:moveTo>
                    <a:pt x="51482" y="0"/>
                  </a:moveTo>
                  <a:lnTo>
                    <a:pt x="1968469" y="0"/>
                  </a:lnTo>
                  <a:cubicBezTo>
                    <a:pt x="1982123" y="0"/>
                    <a:pt x="1995218" y="5424"/>
                    <a:pt x="2004872" y="15079"/>
                  </a:cubicBezTo>
                  <a:cubicBezTo>
                    <a:pt x="2014527" y="24733"/>
                    <a:pt x="2019951" y="37828"/>
                    <a:pt x="2019951" y="51482"/>
                  </a:cubicBezTo>
                  <a:lnTo>
                    <a:pt x="2019951" y="174258"/>
                  </a:lnTo>
                  <a:cubicBezTo>
                    <a:pt x="2019951" y="187912"/>
                    <a:pt x="2014527" y="201006"/>
                    <a:pt x="2004872" y="210661"/>
                  </a:cubicBezTo>
                  <a:cubicBezTo>
                    <a:pt x="1995218" y="220316"/>
                    <a:pt x="1982123" y="225740"/>
                    <a:pt x="1968469" y="225740"/>
                  </a:cubicBezTo>
                  <a:lnTo>
                    <a:pt x="51482" y="225740"/>
                  </a:lnTo>
                  <a:cubicBezTo>
                    <a:pt x="37828" y="225740"/>
                    <a:pt x="24733" y="220316"/>
                    <a:pt x="15079" y="210661"/>
                  </a:cubicBezTo>
                  <a:cubicBezTo>
                    <a:pt x="5424" y="201006"/>
                    <a:pt x="0" y="187912"/>
                    <a:pt x="0" y="174258"/>
                  </a:cubicBezTo>
                  <a:lnTo>
                    <a:pt x="0" y="51482"/>
                  </a:lnTo>
                  <a:cubicBezTo>
                    <a:pt x="0" y="37828"/>
                    <a:pt x="5424" y="24733"/>
                    <a:pt x="15079" y="15079"/>
                  </a:cubicBezTo>
                  <a:cubicBezTo>
                    <a:pt x="24733" y="5424"/>
                    <a:pt x="37828" y="0"/>
                    <a:pt x="51482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33375"/>
              <a:ext cx="2019951" cy="5591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0" y="9548144"/>
            <a:ext cx="5263382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0" lvl="1" indent="-269875" algn="ctr">
              <a:lnSpc>
                <a:spcPts val="35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Data for 6 months, May - Oct 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827398" y="1796456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 rot="-10800000">
            <a:off x="-1987040" y="-75147"/>
            <a:ext cx="5565113" cy="672181"/>
            <a:chOff x="0" y="0"/>
            <a:chExt cx="1465709" cy="1770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0" y="3713145"/>
            <a:ext cx="6262146" cy="3033512"/>
            <a:chOff x="0" y="0"/>
            <a:chExt cx="1649290" cy="798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9289" cy="798950"/>
            </a:xfrm>
            <a:custGeom>
              <a:avLst/>
              <a:gdLst/>
              <a:ahLst/>
              <a:cxnLst/>
              <a:rect l="l" t="t" r="r" b="b"/>
              <a:pathLst>
                <a:path w="1649289" h="798950">
                  <a:moveTo>
                    <a:pt x="63052" y="0"/>
                  </a:moveTo>
                  <a:lnTo>
                    <a:pt x="1586238" y="0"/>
                  </a:lnTo>
                  <a:cubicBezTo>
                    <a:pt x="1602960" y="0"/>
                    <a:pt x="1618998" y="6643"/>
                    <a:pt x="1630822" y="18467"/>
                  </a:cubicBezTo>
                  <a:cubicBezTo>
                    <a:pt x="1642646" y="30292"/>
                    <a:pt x="1649289" y="46329"/>
                    <a:pt x="1649289" y="63052"/>
                  </a:cubicBezTo>
                  <a:lnTo>
                    <a:pt x="1649289" y="735898"/>
                  </a:lnTo>
                  <a:cubicBezTo>
                    <a:pt x="1649289" y="770720"/>
                    <a:pt x="1621060" y="798950"/>
                    <a:pt x="1586238" y="798950"/>
                  </a:cubicBezTo>
                  <a:lnTo>
                    <a:pt x="63052" y="798950"/>
                  </a:lnTo>
                  <a:cubicBezTo>
                    <a:pt x="46329" y="798950"/>
                    <a:pt x="30292" y="792307"/>
                    <a:pt x="18467" y="780482"/>
                  </a:cubicBezTo>
                  <a:cubicBezTo>
                    <a:pt x="6643" y="768658"/>
                    <a:pt x="0" y="752620"/>
                    <a:pt x="0" y="735898"/>
                  </a:cubicBezTo>
                  <a:lnTo>
                    <a:pt x="0" y="63052"/>
                  </a:lnTo>
                  <a:cubicBezTo>
                    <a:pt x="0" y="46329"/>
                    <a:pt x="6643" y="30292"/>
                    <a:pt x="18467" y="18467"/>
                  </a:cubicBezTo>
                  <a:cubicBezTo>
                    <a:pt x="30292" y="6643"/>
                    <a:pt x="46329" y="0"/>
                    <a:pt x="63052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33375"/>
              <a:ext cx="1649290" cy="113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95516" y="502281"/>
            <a:ext cx="6806262" cy="1109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Preferences</a:t>
            </a:r>
            <a:endParaRPr lang="en-US" sz="77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323199" y="216531"/>
            <a:ext cx="9126626" cy="159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15"/>
              </a:lnSpc>
            </a:pPr>
            <a:r>
              <a:rPr lang="en-US" sz="8865" b="1" spc="833">
                <a:solidFill>
                  <a:srgbClr val="8D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DEBIT CARDS</a:t>
            </a:r>
            <a:endParaRPr lang="en-US" sz="8865" b="1" spc="833">
              <a:solidFill>
                <a:srgbClr val="8D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86526" y="4478460"/>
            <a:ext cx="5272302" cy="372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5"/>
              </a:lnSpc>
            </a:pPr>
            <a:r>
              <a:rPr lang="en-US" sz="214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Total Value of Transactions </a:t>
            </a:r>
            <a:r>
              <a:rPr lang="en-US" sz="2145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: </a:t>
            </a:r>
            <a:r>
              <a:rPr lang="en-US" sz="2145" b="1">
                <a:solidFill>
                  <a:srgbClr val="8D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Rs. 51.83 M</a:t>
            </a:r>
            <a:r>
              <a:rPr lang="en-US" sz="2145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 </a:t>
            </a:r>
            <a:endParaRPr lang="en-US" sz="2145" b="1">
              <a:solidFill>
                <a:srgbClr val="00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68045" y="5020310"/>
            <a:ext cx="4709160" cy="384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5"/>
              </a:lnSpc>
            </a:pPr>
            <a:r>
              <a:rPr lang="en-US" sz="214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Number of Transactions </a:t>
            </a:r>
            <a:r>
              <a:rPr lang="en-US" sz="2145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: </a:t>
            </a:r>
            <a:r>
              <a:rPr lang="en-US" sz="2145" b="1">
                <a:solidFill>
                  <a:srgbClr val="8D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68.74 K</a:t>
            </a:r>
            <a:endParaRPr lang="en-US" sz="2145" b="1">
              <a:solidFill>
                <a:srgbClr val="8D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06730" y="5561330"/>
            <a:ext cx="5516880" cy="384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5"/>
              </a:lnSpc>
            </a:pPr>
            <a:r>
              <a:rPr lang="en-US" sz="214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Average value of Transactions </a:t>
            </a:r>
            <a:r>
              <a:rPr lang="en-US" sz="2145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: </a:t>
            </a:r>
            <a:r>
              <a:rPr lang="en-US" sz="2145" b="1">
                <a:solidFill>
                  <a:srgbClr val="8D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Rs. 753</a:t>
            </a:r>
            <a:endParaRPr lang="en-US" sz="2145" b="1">
              <a:solidFill>
                <a:srgbClr val="8D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604341" y="2811445"/>
            <a:ext cx="6564341" cy="9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 spc="470">
                <a:solidFill>
                  <a:srgbClr val="8D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TARGET SEGMENT</a:t>
            </a:r>
            <a:endParaRPr lang="en-US" sz="5000" b="1" spc="470">
              <a:solidFill>
                <a:srgbClr val="8D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815112" y="4145061"/>
            <a:ext cx="10556716" cy="325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Age Group : </a:t>
            </a:r>
            <a:r>
              <a:rPr lang="en-US" sz="3700" b="1">
                <a:solidFill>
                  <a:srgbClr val="8D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35 - 45 years</a:t>
            </a:r>
            <a:endParaRPr lang="en-US" sz="3700" b="1">
              <a:solidFill>
                <a:srgbClr val="8D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Occupation : </a:t>
            </a:r>
            <a:r>
              <a:rPr lang="en-US" sz="3700" b="1">
                <a:solidFill>
                  <a:srgbClr val="8D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Salaried IT &amp;  Other employees</a:t>
            </a:r>
            <a:endParaRPr lang="en-US" sz="3700" b="1">
              <a:solidFill>
                <a:srgbClr val="8D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City : </a:t>
            </a:r>
            <a:r>
              <a:rPr lang="en-US" sz="3700" b="1">
                <a:solidFill>
                  <a:srgbClr val="8D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Mumbai &amp; Delhi NCR</a:t>
            </a:r>
            <a:endParaRPr lang="en-US" sz="3700" b="1">
              <a:solidFill>
                <a:srgbClr val="8D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Category</a:t>
            </a:r>
            <a:r>
              <a:rPr lang="en-US" sz="37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 </a:t>
            </a:r>
            <a:r>
              <a:rPr lang="en-US" sz="37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: </a:t>
            </a:r>
            <a:r>
              <a:rPr lang="en-US" sz="3700" b="1">
                <a:solidFill>
                  <a:srgbClr val="8D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Groceries, Health &amp; wellness, Travel</a:t>
            </a:r>
            <a:endParaRPr lang="en-US" sz="3700" b="1">
              <a:solidFill>
                <a:srgbClr val="8D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algn="ctr">
              <a:lnSpc>
                <a:spcPts val="518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827398" y="1796456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 rot="0">
            <a:off x="-1753856" y="9614819"/>
            <a:ext cx="5565113" cy="672181"/>
            <a:chOff x="0" y="0"/>
            <a:chExt cx="1465709" cy="1770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-1987040" y="-75147"/>
            <a:ext cx="5565113" cy="672181"/>
            <a:chOff x="0" y="0"/>
            <a:chExt cx="1465709" cy="1770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-2373577">
            <a:off x="-2883348" y="4720046"/>
            <a:ext cx="9426587" cy="5623206"/>
            <a:chOff x="0" y="0"/>
            <a:chExt cx="2482722" cy="14810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82722" cy="1481009"/>
            </a:xfrm>
            <a:custGeom>
              <a:avLst/>
              <a:gdLst/>
              <a:ahLst/>
              <a:cxnLst/>
              <a:rect l="l" t="t" r="r" b="b"/>
              <a:pathLst>
                <a:path w="2482722" h="1481009">
                  <a:moveTo>
                    <a:pt x="41886" y="0"/>
                  </a:moveTo>
                  <a:lnTo>
                    <a:pt x="2440837" y="0"/>
                  </a:lnTo>
                  <a:cubicBezTo>
                    <a:pt x="2451946" y="0"/>
                    <a:pt x="2462599" y="4413"/>
                    <a:pt x="2470454" y="12268"/>
                  </a:cubicBezTo>
                  <a:cubicBezTo>
                    <a:pt x="2478310" y="20123"/>
                    <a:pt x="2482722" y="30777"/>
                    <a:pt x="2482722" y="41886"/>
                  </a:cubicBezTo>
                  <a:lnTo>
                    <a:pt x="2482722" y="1439123"/>
                  </a:lnTo>
                  <a:cubicBezTo>
                    <a:pt x="2482722" y="1450232"/>
                    <a:pt x="2478310" y="1460886"/>
                    <a:pt x="2470454" y="1468741"/>
                  </a:cubicBezTo>
                  <a:cubicBezTo>
                    <a:pt x="2462599" y="1476596"/>
                    <a:pt x="2451946" y="1481009"/>
                    <a:pt x="2440837" y="1481009"/>
                  </a:cubicBezTo>
                  <a:lnTo>
                    <a:pt x="41886" y="1481009"/>
                  </a:lnTo>
                  <a:cubicBezTo>
                    <a:pt x="30777" y="1481009"/>
                    <a:pt x="20123" y="1476596"/>
                    <a:pt x="12268" y="1468741"/>
                  </a:cubicBezTo>
                  <a:cubicBezTo>
                    <a:pt x="4413" y="1460886"/>
                    <a:pt x="0" y="1450232"/>
                    <a:pt x="0" y="1439123"/>
                  </a:cubicBezTo>
                  <a:lnTo>
                    <a:pt x="0" y="41886"/>
                  </a:lnTo>
                  <a:cubicBezTo>
                    <a:pt x="0" y="30777"/>
                    <a:pt x="4413" y="20123"/>
                    <a:pt x="12268" y="12268"/>
                  </a:cubicBezTo>
                  <a:cubicBezTo>
                    <a:pt x="20123" y="4413"/>
                    <a:pt x="30777" y="0"/>
                    <a:pt x="41886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33375"/>
              <a:ext cx="2482722" cy="1814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95516" y="502281"/>
            <a:ext cx="6806262" cy="1109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Preferences</a:t>
            </a:r>
            <a:endParaRPr lang="en-US" sz="77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323199" y="216531"/>
            <a:ext cx="9126626" cy="159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15"/>
              </a:lnSpc>
            </a:pPr>
            <a:r>
              <a:rPr lang="en-US" sz="8865" b="1" spc="833">
                <a:solidFill>
                  <a:srgbClr val="8D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UPI</a:t>
            </a:r>
            <a:endParaRPr lang="en-US" sz="8865" b="1" spc="833">
              <a:solidFill>
                <a:srgbClr val="8D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195717" y="3953337"/>
            <a:ext cx="11896567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Total Value of Transactions </a:t>
            </a:r>
            <a:r>
              <a:rPr lang="en-US" sz="48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: </a:t>
            </a:r>
            <a:r>
              <a:rPr lang="en-US" sz="4800" b="1">
                <a:solidFill>
                  <a:srgbClr val="8D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Rs. 46.94 M</a:t>
            </a:r>
            <a:r>
              <a:rPr lang="en-US" sz="48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 </a:t>
            </a:r>
            <a:endParaRPr lang="en-US" sz="4800" b="1">
              <a:solidFill>
                <a:srgbClr val="00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323715" y="5165090"/>
            <a:ext cx="10354945" cy="8616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Number of Transactions </a:t>
            </a:r>
            <a:r>
              <a:rPr lang="en-US" sz="48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: </a:t>
            </a:r>
            <a:r>
              <a:rPr lang="en-US" sz="4800" b="1">
                <a:solidFill>
                  <a:srgbClr val="8D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68.74 K</a:t>
            </a:r>
            <a:endParaRPr lang="en-US" sz="4800" b="1">
              <a:solidFill>
                <a:srgbClr val="8D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479165" y="6376670"/>
            <a:ext cx="11855450" cy="8616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Average value of Transactions </a:t>
            </a:r>
            <a:r>
              <a:rPr lang="en-US" sz="48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: </a:t>
            </a:r>
            <a:r>
              <a:rPr lang="en-US" sz="4800" b="1">
                <a:solidFill>
                  <a:srgbClr val="8D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Rs. 682</a:t>
            </a:r>
            <a:endParaRPr lang="en-US" sz="4800" b="1">
              <a:solidFill>
                <a:srgbClr val="8D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grpSp>
        <p:nvGrpSpPr>
          <p:cNvPr id="17" name="Group 17"/>
          <p:cNvGrpSpPr/>
          <p:nvPr/>
        </p:nvGrpSpPr>
        <p:grpSpPr>
          <a:xfrm rot="0">
            <a:off x="-1753856" y="9429895"/>
            <a:ext cx="7669501" cy="857105"/>
            <a:chOff x="0" y="0"/>
            <a:chExt cx="2019951" cy="2257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19951" cy="225740"/>
            </a:xfrm>
            <a:custGeom>
              <a:avLst/>
              <a:gdLst/>
              <a:ahLst/>
              <a:cxnLst/>
              <a:rect l="l" t="t" r="r" b="b"/>
              <a:pathLst>
                <a:path w="2019951" h="225740">
                  <a:moveTo>
                    <a:pt x="51482" y="0"/>
                  </a:moveTo>
                  <a:lnTo>
                    <a:pt x="1968469" y="0"/>
                  </a:lnTo>
                  <a:cubicBezTo>
                    <a:pt x="1982123" y="0"/>
                    <a:pt x="1995218" y="5424"/>
                    <a:pt x="2004872" y="15079"/>
                  </a:cubicBezTo>
                  <a:cubicBezTo>
                    <a:pt x="2014527" y="24733"/>
                    <a:pt x="2019951" y="37828"/>
                    <a:pt x="2019951" y="51482"/>
                  </a:cubicBezTo>
                  <a:lnTo>
                    <a:pt x="2019951" y="174258"/>
                  </a:lnTo>
                  <a:cubicBezTo>
                    <a:pt x="2019951" y="187912"/>
                    <a:pt x="2014527" y="201006"/>
                    <a:pt x="2004872" y="210661"/>
                  </a:cubicBezTo>
                  <a:cubicBezTo>
                    <a:pt x="1995218" y="220316"/>
                    <a:pt x="1982123" y="225740"/>
                    <a:pt x="1968469" y="225740"/>
                  </a:cubicBezTo>
                  <a:lnTo>
                    <a:pt x="51482" y="225740"/>
                  </a:lnTo>
                  <a:cubicBezTo>
                    <a:pt x="37828" y="225740"/>
                    <a:pt x="24733" y="220316"/>
                    <a:pt x="15079" y="210661"/>
                  </a:cubicBezTo>
                  <a:cubicBezTo>
                    <a:pt x="5424" y="201006"/>
                    <a:pt x="0" y="187912"/>
                    <a:pt x="0" y="174258"/>
                  </a:cubicBezTo>
                  <a:lnTo>
                    <a:pt x="0" y="51482"/>
                  </a:lnTo>
                  <a:cubicBezTo>
                    <a:pt x="0" y="37828"/>
                    <a:pt x="5424" y="24733"/>
                    <a:pt x="15079" y="15079"/>
                  </a:cubicBezTo>
                  <a:cubicBezTo>
                    <a:pt x="24733" y="5424"/>
                    <a:pt x="37828" y="0"/>
                    <a:pt x="51482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33375"/>
              <a:ext cx="2019951" cy="5591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0" y="9548144"/>
            <a:ext cx="5263382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0" lvl="1" indent="-269875" algn="ctr">
              <a:lnSpc>
                <a:spcPts val="35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Data for 6 months, May - Oct 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827398" y="1796456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 rot="-10800000">
            <a:off x="-1987040" y="-75147"/>
            <a:ext cx="5565113" cy="672181"/>
            <a:chOff x="0" y="0"/>
            <a:chExt cx="1465709" cy="1770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0" y="3713145"/>
            <a:ext cx="6262146" cy="3033512"/>
            <a:chOff x="0" y="0"/>
            <a:chExt cx="1649290" cy="798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9289" cy="798950"/>
            </a:xfrm>
            <a:custGeom>
              <a:avLst/>
              <a:gdLst/>
              <a:ahLst/>
              <a:cxnLst/>
              <a:rect l="l" t="t" r="r" b="b"/>
              <a:pathLst>
                <a:path w="1649289" h="798950">
                  <a:moveTo>
                    <a:pt x="63052" y="0"/>
                  </a:moveTo>
                  <a:lnTo>
                    <a:pt x="1586238" y="0"/>
                  </a:lnTo>
                  <a:cubicBezTo>
                    <a:pt x="1602960" y="0"/>
                    <a:pt x="1618998" y="6643"/>
                    <a:pt x="1630822" y="18467"/>
                  </a:cubicBezTo>
                  <a:cubicBezTo>
                    <a:pt x="1642646" y="30292"/>
                    <a:pt x="1649289" y="46329"/>
                    <a:pt x="1649289" y="63052"/>
                  </a:cubicBezTo>
                  <a:lnTo>
                    <a:pt x="1649289" y="735898"/>
                  </a:lnTo>
                  <a:cubicBezTo>
                    <a:pt x="1649289" y="770720"/>
                    <a:pt x="1621060" y="798950"/>
                    <a:pt x="1586238" y="798950"/>
                  </a:cubicBezTo>
                  <a:lnTo>
                    <a:pt x="63052" y="798950"/>
                  </a:lnTo>
                  <a:cubicBezTo>
                    <a:pt x="46329" y="798950"/>
                    <a:pt x="30292" y="792307"/>
                    <a:pt x="18467" y="780482"/>
                  </a:cubicBezTo>
                  <a:cubicBezTo>
                    <a:pt x="6643" y="768658"/>
                    <a:pt x="0" y="752620"/>
                    <a:pt x="0" y="735898"/>
                  </a:cubicBezTo>
                  <a:lnTo>
                    <a:pt x="0" y="63052"/>
                  </a:lnTo>
                  <a:cubicBezTo>
                    <a:pt x="0" y="46329"/>
                    <a:pt x="6643" y="30292"/>
                    <a:pt x="18467" y="18467"/>
                  </a:cubicBezTo>
                  <a:cubicBezTo>
                    <a:pt x="30292" y="6643"/>
                    <a:pt x="46329" y="0"/>
                    <a:pt x="63052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33375"/>
              <a:ext cx="1649290" cy="113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95516" y="502281"/>
            <a:ext cx="6806262" cy="1109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Preferences</a:t>
            </a:r>
            <a:endParaRPr lang="en-US" sz="77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323199" y="216531"/>
            <a:ext cx="9126626" cy="1594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15"/>
              </a:lnSpc>
            </a:pPr>
            <a:r>
              <a:rPr lang="en-US" sz="8865" b="1" spc="833">
                <a:solidFill>
                  <a:srgbClr val="8D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UPI</a:t>
            </a:r>
            <a:endParaRPr lang="en-US" sz="8865" b="1" spc="833">
              <a:solidFill>
                <a:srgbClr val="8D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63855" y="4478655"/>
            <a:ext cx="5796280" cy="384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5"/>
              </a:lnSpc>
            </a:pPr>
            <a:r>
              <a:rPr lang="en-US" sz="214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Total Value of Transactions </a:t>
            </a:r>
            <a:r>
              <a:rPr lang="en-US" sz="2145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: </a:t>
            </a:r>
            <a:r>
              <a:rPr lang="en-US" sz="2145" b="1">
                <a:solidFill>
                  <a:srgbClr val="8D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Rs. 46.94 M</a:t>
            </a:r>
            <a:r>
              <a:rPr lang="en-US" sz="2145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 </a:t>
            </a:r>
            <a:endParaRPr lang="en-US" sz="2145" b="1">
              <a:solidFill>
                <a:srgbClr val="00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68045" y="5020310"/>
            <a:ext cx="4857750" cy="384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5"/>
              </a:lnSpc>
            </a:pPr>
            <a:r>
              <a:rPr lang="en-US" sz="214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Number of Transactions </a:t>
            </a:r>
            <a:r>
              <a:rPr lang="en-US" sz="2145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: </a:t>
            </a:r>
            <a:r>
              <a:rPr lang="en-US" sz="2145" b="1">
                <a:solidFill>
                  <a:srgbClr val="8D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68.74 K</a:t>
            </a:r>
            <a:endParaRPr lang="en-US" sz="2145" b="1">
              <a:solidFill>
                <a:srgbClr val="8D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90220" y="5561330"/>
            <a:ext cx="5597525" cy="384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5"/>
              </a:lnSpc>
            </a:pPr>
            <a:r>
              <a:rPr lang="en-US" sz="214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Average value of Transactions </a:t>
            </a:r>
            <a:r>
              <a:rPr lang="en-US" sz="2145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: </a:t>
            </a:r>
            <a:r>
              <a:rPr lang="en-US" sz="2145" b="1">
                <a:solidFill>
                  <a:srgbClr val="8D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Rs. 682</a:t>
            </a:r>
            <a:endParaRPr lang="en-US" sz="2145" b="1">
              <a:solidFill>
                <a:srgbClr val="8D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604341" y="2811445"/>
            <a:ext cx="6564341" cy="9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 spc="470">
                <a:solidFill>
                  <a:srgbClr val="8D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TARGET SEGMENT</a:t>
            </a:r>
            <a:endParaRPr lang="en-US" sz="5000" b="1" spc="470">
              <a:solidFill>
                <a:srgbClr val="8D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470306" y="4145061"/>
            <a:ext cx="11246326" cy="325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Age Group : </a:t>
            </a:r>
            <a:r>
              <a:rPr lang="en-US" sz="3700" b="1">
                <a:solidFill>
                  <a:srgbClr val="8D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21 - 24 years</a:t>
            </a:r>
            <a:endParaRPr lang="en-US" sz="3700" b="1">
              <a:solidFill>
                <a:srgbClr val="8D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Occupation : </a:t>
            </a:r>
            <a:r>
              <a:rPr lang="en-US" sz="3700" b="1">
                <a:solidFill>
                  <a:srgbClr val="8D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Freelancers &amp; Salaried IT employees</a:t>
            </a:r>
            <a:endParaRPr lang="en-US" sz="3700" b="1">
              <a:solidFill>
                <a:srgbClr val="8D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City : </a:t>
            </a:r>
            <a:r>
              <a:rPr lang="en-US" sz="3700" b="1">
                <a:solidFill>
                  <a:srgbClr val="8D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Mumbai &amp; Delhi NCR</a:t>
            </a:r>
            <a:endParaRPr lang="en-US" sz="3700" b="1">
              <a:solidFill>
                <a:srgbClr val="8D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Category</a:t>
            </a:r>
            <a:r>
              <a:rPr lang="en-US" sz="37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 </a:t>
            </a:r>
            <a:r>
              <a:rPr lang="en-US" sz="37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: </a:t>
            </a:r>
            <a:r>
              <a:rPr lang="en-US" sz="3700" b="1">
                <a:solidFill>
                  <a:srgbClr val="8D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Groceries, Health &amp; wellness, Travel</a:t>
            </a:r>
            <a:endParaRPr lang="en-US" sz="3700" b="1">
              <a:solidFill>
                <a:srgbClr val="8D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algn="ctr">
              <a:lnSpc>
                <a:spcPts val="518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827398" y="2016224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 rot="-10800000">
            <a:off x="-1987040" y="-75147"/>
            <a:ext cx="5565113" cy="672181"/>
            <a:chOff x="0" y="0"/>
            <a:chExt cx="1465709" cy="1770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0" y="318094"/>
            <a:ext cx="6806262" cy="2081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Customer Segments</a:t>
            </a:r>
            <a:endParaRPr lang="en-US" sz="77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407882"/>
            <a:ext cx="5068634" cy="1594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15"/>
              </a:lnSpc>
            </a:pPr>
            <a:r>
              <a:rPr lang="en-US" sz="8865" b="1" spc="833">
                <a:solidFill>
                  <a:srgbClr val="8D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TARGET</a:t>
            </a:r>
            <a:endParaRPr lang="en-US" sz="8865" b="1" spc="833">
              <a:solidFill>
                <a:srgbClr val="8D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825328" y="4122079"/>
            <a:ext cx="10856036" cy="366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90"/>
              </a:lnSpc>
            </a:pPr>
            <a:r>
              <a:rPr lang="en-US" sz="5710" b="1">
                <a:solidFill>
                  <a:srgbClr val="8D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High Spending lifestyle</a:t>
            </a:r>
            <a:endParaRPr lang="en-US" sz="5710" b="1">
              <a:solidFill>
                <a:srgbClr val="8D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algn="ctr">
              <a:lnSpc>
                <a:spcPts val="7105"/>
              </a:lnSpc>
            </a:pPr>
            <a:r>
              <a:rPr lang="en-US" sz="507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25 - 45  Years</a:t>
            </a:r>
            <a:endParaRPr lang="en-US" sz="5075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ctr">
              <a:lnSpc>
                <a:spcPts val="7105"/>
              </a:lnSpc>
            </a:pPr>
            <a:r>
              <a:rPr lang="en-US" sz="507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Salaried IT &amp; other Employees </a:t>
            </a:r>
            <a:endParaRPr lang="en-US" sz="5075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ctr">
              <a:lnSpc>
                <a:spcPts val="7105"/>
              </a:lnSpc>
            </a:pPr>
            <a:r>
              <a:rPr lang="en-US" sz="507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Focus on  Health &amp; Wellness, Travel</a:t>
            </a:r>
            <a:endParaRPr lang="en-US" sz="5075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827398" y="2016224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 rot="-10800000">
            <a:off x="-1987040" y="-75147"/>
            <a:ext cx="5565113" cy="672181"/>
            <a:chOff x="0" y="0"/>
            <a:chExt cx="1465709" cy="1770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0" y="318094"/>
            <a:ext cx="6806262" cy="2081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Customer Segments</a:t>
            </a:r>
            <a:endParaRPr lang="en-US" sz="77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407882"/>
            <a:ext cx="5068634" cy="1594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15"/>
              </a:lnSpc>
            </a:pPr>
            <a:r>
              <a:rPr lang="en-US" sz="8865" b="1" spc="833">
                <a:solidFill>
                  <a:srgbClr val="8D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TARGET</a:t>
            </a:r>
            <a:endParaRPr lang="en-US" sz="8865" b="1" spc="833">
              <a:solidFill>
                <a:srgbClr val="8D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15067" y="4089389"/>
            <a:ext cx="11335195" cy="459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35"/>
              </a:lnSpc>
            </a:pPr>
            <a:r>
              <a:rPr lang="en-US" sz="5740" b="1">
                <a:solidFill>
                  <a:srgbClr val="8D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High income utilisation</a:t>
            </a:r>
            <a:endParaRPr lang="en-US" sz="5740" b="1">
              <a:solidFill>
                <a:srgbClr val="8D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algn="ctr">
              <a:lnSpc>
                <a:spcPts val="7140"/>
              </a:lnSpc>
            </a:pPr>
            <a:r>
              <a:rPr lang="en-US" sz="51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21 - 24 Years</a:t>
            </a:r>
            <a:endParaRPr lang="en-US" sz="510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ctr">
              <a:lnSpc>
                <a:spcPts val="7140"/>
              </a:lnSpc>
            </a:pPr>
            <a:r>
              <a:rPr lang="en-US" sz="51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Salaried IT Employees &amp; Freelancers</a:t>
            </a:r>
            <a:endParaRPr lang="en-US" sz="510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ctr">
              <a:lnSpc>
                <a:spcPts val="7140"/>
              </a:lnSpc>
            </a:pPr>
            <a:r>
              <a:rPr lang="en-US" sz="51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Focus on Grocery, Health &amp; Wellness</a:t>
            </a:r>
            <a:endParaRPr lang="en-US" sz="510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ctr">
              <a:lnSpc>
                <a:spcPts val="714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827398" y="2016224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 rot="-10800000">
            <a:off x="-1987040" y="-75147"/>
            <a:ext cx="5565113" cy="672181"/>
            <a:chOff x="0" y="0"/>
            <a:chExt cx="1465709" cy="1770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9893267" y="3618950"/>
            <a:ext cx="7261973" cy="4453475"/>
          </a:xfrm>
          <a:custGeom>
            <a:avLst/>
            <a:gdLst/>
            <a:ahLst/>
            <a:cxnLst/>
            <a:rect l="l" t="t" r="r" b="b"/>
            <a:pathLst>
              <a:path w="7261973" h="4453475">
                <a:moveTo>
                  <a:pt x="0" y="0"/>
                </a:moveTo>
                <a:lnTo>
                  <a:pt x="7261972" y="0"/>
                </a:lnTo>
                <a:lnTo>
                  <a:pt x="7261972" y="4453475"/>
                </a:lnTo>
                <a:lnTo>
                  <a:pt x="0" y="445347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0317" t="-16551" r="-10084" b="-14254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2426221"/>
            <a:ext cx="16230600" cy="98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70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Mithron Udaan Rise</a:t>
            </a:r>
            <a:endParaRPr lang="en-US" sz="70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61389" y="407882"/>
            <a:ext cx="6633369" cy="1594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15"/>
              </a:lnSpc>
            </a:pPr>
            <a:r>
              <a:rPr lang="en-US" sz="8865" b="1" spc="833">
                <a:solidFill>
                  <a:srgbClr val="8D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FEATURES</a:t>
            </a:r>
            <a:endParaRPr lang="en-US" sz="8865" b="1" spc="833">
              <a:solidFill>
                <a:srgbClr val="8D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95516" y="4023313"/>
            <a:ext cx="7607040" cy="5622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4235" lvl="1" indent="-432435" algn="l">
              <a:lnSpc>
                <a:spcPts val="5605"/>
              </a:lnSpc>
              <a:buFont typeface="Arial" panose="020B0604020202020204"/>
              <a:buChar char="•"/>
            </a:pPr>
            <a:r>
              <a:rPr lang="en-US" sz="400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Zero annual charges.</a:t>
            </a:r>
            <a:endParaRPr lang="en-US" sz="4005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864235" lvl="1" indent="-432435" algn="l">
              <a:lnSpc>
                <a:spcPts val="5605"/>
              </a:lnSpc>
              <a:buFont typeface="Arial" panose="020B0604020202020204"/>
              <a:buChar char="•"/>
            </a:pPr>
            <a:r>
              <a:rPr lang="en-US" sz="400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7% on Dining &amp; Shopping.</a:t>
            </a:r>
            <a:endParaRPr lang="en-US" sz="4005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864235" lvl="1" indent="-432435" algn="l">
              <a:lnSpc>
                <a:spcPts val="5605"/>
              </a:lnSpc>
              <a:buFont typeface="Arial" panose="020B0604020202020204"/>
              <a:buChar char="•"/>
            </a:pPr>
            <a:r>
              <a:rPr lang="en-US" sz="400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5% discount on Metro &amp; Air travels.</a:t>
            </a:r>
            <a:endParaRPr lang="en-US" sz="4005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864235" lvl="1" indent="-432435" algn="l">
              <a:lnSpc>
                <a:spcPts val="5605"/>
              </a:lnSpc>
              <a:buFont typeface="Arial" panose="020B0604020202020204"/>
              <a:buChar char="•"/>
            </a:pPr>
            <a:r>
              <a:rPr lang="en-US" sz="400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10 X more rewards on quick commerce payments.</a:t>
            </a:r>
            <a:endParaRPr lang="en-US" sz="4005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864235" lvl="1" indent="-432435" algn="l">
              <a:lnSpc>
                <a:spcPts val="5605"/>
              </a:lnSpc>
              <a:buFont typeface="Arial" panose="020B0604020202020204"/>
              <a:buChar char="•"/>
            </a:pPr>
            <a:r>
              <a:rPr lang="en-US" sz="400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Convert card payments to EMI hassle-free.</a:t>
            </a:r>
            <a:endParaRPr lang="en-US" sz="4005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827398" y="2016224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 rot="-10800000">
            <a:off x="-1987040" y="-75147"/>
            <a:ext cx="5565113" cy="672181"/>
            <a:chOff x="0" y="0"/>
            <a:chExt cx="1465709" cy="1770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9716478" y="4109038"/>
            <a:ext cx="7542822" cy="4413353"/>
          </a:xfrm>
          <a:custGeom>
            <a:avLst/>
            <a:gdLst/>
            <a:ahLst/>
            <a:cxnLst/>
            <a:rect l="l" t="t" r="r" b="b"/>
            <a:pathLst>
              <a:path w="7542822" h="4413353">
                <a:moveTo>
                  <a:pt x="0" y="0"/>
                </a:moveTo>
                <a:lnTo>
                  <a:pt x="7542822" y="0"/>
                </a:lnTo>
                <a:lnTo>
                  <a:pt x="7542822" y="4413353"/>
                </a:lnTo>
                <a:lnTo>
                  <a:pt x="0" y="441335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7805" t="-17046" r="-8113" b="-14948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2426221"/>
            <a:ext cx="16230600" cy="98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70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Mithron EmpowerHer Cards</a:t>
            </a:r>
            <a:endParaRPr lang="en-US" sz="70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61389" y="407882"/>
            <a:ext cx="6633369" cy="1594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15"/>
              </a:lnSpc>
            </a:pPr>
            <a:r>
              <a:rPr lang="en-US" sz="8865" b="1" spc="833">
                <a:solidFill>
                  <a:srgbClr val="8D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FEATURES</a:t>
            </a:r>
            <a:endParaRPr lang="en-US" sz="8865" b="1" spc="833">
              <a:solidFill>
                <a:srgbClr val="8D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95516" y="4023313"/>
            <a:ext cx="9452625" cy="4213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4235" lvl="1" indent="-432435" algn="l">
              <a:lnSpc>
                <a:spcPts val="5605"/>
              </a:lnSpc>
              <a:buFont typeface="Arial" panose="020B0604020202020204"/>
              <a:buChar char="•"/>
            </a:pPr>
            <a:r>
              <a:rPr lang="en-US" sz="400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7% Cashback on Health and wellness payments.</a:t>
            </a:r>
            <a:endParaRPr lang="en-US" sz="4005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864235" lvl="1" indent="-432435" algn="l">
              <a:lnSpc>
                <a:spcPts val="5605"/>
              </a:lnSpc>
              <a:buFont typeface="Arial" panose="020B0604020202020204"/>
              <a:buChar char="•"/>
            </a:pPr>
            <a:r>
              <a:rPr lang="en-US" sz="400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Personal loans upto Rs 5 Lakhs based on credit score.</a:t>
            </a:r>
            <a:endParaRPr lang="en-US" sz="4005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864235" lvl="1" indent="-432435" algn="l">
              <a:lnSpc>
                <a:spcPts val="5605"/>
              </a:lnSpc>
              <a:buFont typeface="Arial" panose="020B0604020202020204"/>
              <a:buChar char="•"/>
            </a:pPr>
            <a:r>
              <a:rPr lang="en-US" sz="400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5 % discount on Metro &amp; Air travels.</a:t>
            </a:r>
            <a:endParaRPr lang="en-US" sz="4005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827398" y="2016224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 rot="-10800000">
            <a:off x="-1987040" y="-75147"/>
            <a:ext cx="5565113" cy="672181"/>
            <a:chOff x="0" y="0"/>
            <a:chExt cx="1465709" cy="1770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14285901" y="2106711"/>
            <a:ext cx="608864" cy="799822"/>
          </a:xfrm>
          <a:custGeom>
            <a:avLst/>
            <a:gdLst/>
            <a:ahLst/>
            <a:cxnLst/>
            <a:rect l="l" t="t" r="r" b="b"/>
            <a:pathLst>
              <a:path w="608864" h="799822">
                <a:moveTo>
                  <a:pt x="0" y="0"/>
                </a:moveTo>
                <a:lnTo>
                  <a:pt x="608864" y="0"/>
                </a:lnTo>
                <a:lnTo>
                  <a:pt x="608864" y="799822"/>
                </a:lnTo>
                <a:lnTo>
                  <a:pt x="0" y="79982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61389" y="407882"/>
            <a:ext cx="7877132" cy="1594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15"/>
              </a:lnSpc>
            </a:pPr>
            <a:r>
              <a:rPr lang="en-US" sz="8865" b="1" spc="833">
                <a:solidFill>
                  <a:srgbClr val="8D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OUTCOMES</a:t>
            </a:r>
            <a:endParaRPr lang="en-US" sz="8865" b="1" spc="833">
              <a:solidFill>
                <a:srgbClr val="8D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676400" y="2019300"/>
            <a:ext cx="14135735" cy="31299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8405"/>
              </a:lnSpc>
            </a:pPr>
            <a:r>
              <a:rPr lang="en-US" sz="600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Value of Transactions :  </a:t>
            </a:r>
            <a:r>
              <a:rPr lang="en-US" sz="6005" b="1">
                <a:solidFill>
                  <a:srgbClr val="8D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31 M</a:t>
            </a:r>
            <a:endParaRPr lang="en-US" sz="6005" b="1">
              <a:solidFill>
                <a:srgbClr val="8D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algn="ctr">
              <a:lnSpc>
                <a:spcPts val="8405"/>
              </a:lnSpc>
            </a:pPr>
            <a:r>
              <a:rPr lang="en-US" sz="600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Number of Transactions :</a:t>
            </a:r>
            <a:r>
              <a:rPr lang="en-US" sz="6005" b="1">
                <a:solidFill>
                  <a:srgbClr val="8D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 64.8 K</a:t>
            </a:r>
            <a:endParaRPr lang="en-US" sz="6005" b="1">
              <a:solidFill>
                <a:srgbClr val="8D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algn="ctr">
              <a:lnSpc>
                <a:spcPts val="8405"/>
              </a:lnSpc>
            </a:pPr>
            <a:r>
              <a:rPr lang="en-US" sz="600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Percentage of CC Transactions: </a:t>
            </a:r>
            <a:r>
              <a:rPr lang="en-US" sz="6005" b="1">
                <a:solidFill>
                  <a:srgbClr val="8D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15%</a:t>
            </a:r>
            <a:endParaRPr lang="en-US" sz="6005" b="1">
              <a:solidFill>
                <a:srgbClr val="8D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4894765" y="3228174"/>
            <a:ext cx="608864" cy="799822"/>
          </a:xfrm>
          <a:custGeom>
            <a:avLst/>
            <a:gdLst/>
            <a:ahLst/>
            <a:cxnLst/>
            <a:rect l="l" t="t" r="r" b="b"/>
            <a:pathLst>
              <a:path w="608864" h="799822">
                <a:moveTo>
                  <a:pt x="0" y="0"/>
                </a:moveTo>
                <a:lnTo>
                  <a:pt x="608865" y="0"/>
                </a:lnTo>
                <a:lnTo>
                  <a:pt x="608865" y="799822"/>
                </a:lnTo>
                <a:lnTo>
                  <a:pt x="0" y="79982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784479" y="4349636"/>
            <a:ext cx="608864" cy="799822"/>
          </a:xfrm>
          <a:custGeom>
            <a:avLst/>
            <a:gdLst/>
            <a:ahLst/>
            <a:cxnLst/>
            <a:rect l="l" t="t" r="r" b="b"/>
            <a:pathLst>
              <a:path w="608864" h="799822">
                <a:moveTo>
                  <a:pt x="0" y="0"/>
                </a:moveTo>
                <a:lnTo>
                  <a:pt x="608865" y="0"/>
                </a:lnTo>
                <a:lnTo>
                  <a:pt x="608865" y="799822"/>
                </a:lnTo>
                <a:lnTo>
                  <a:pt x="0" y="79982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567" y="4605753"/>
            <a:ext cx="6631474" cy="5822196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1392" y="4922472"/>
            <a:ext cx="8373378" cy="536531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552663" y="6335626"/>
            <a:ext cx="1903202" cy="190320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827398" y="2016224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 rot="-10800000">
            <a:off x="-1987040" y="-75147"/>
            <a:ext cx="5565113" cy="672181"/>
            <a:chOff x="0" y="0"/>
            <a:chExt cx="1465709" cy="1770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0"/>
                </a:lnSpc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617388" y="873122"/>
            <a:ext cx="3570337" cy="98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70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Scope</a:t>
            </a:r>
            <a:endParaRPr lang="en-US" sz="70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61389" y="407882"/>
            <a:ext cx="6633369" cy="1594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15"/>
              </a:lnSpc>
            </a:pPr>
            <a:r>
              <a:rPr lang="en-US" sz="8865" b="1" spc="833">
                <a:solidFill>
                  <a:srgbClr val="8D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FUTURE </a:t>
            </a:r>
            <a:endParaRPr lang="en-US" sz="8865" b="1" spc="833">
              <a:solidFill>
                <a:srgbClr val="8D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93806" y="3834831"/>
            <a:ext cx="14217501" cy="396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l">
              <a:lnSpc>
                <a:spcPts val="6300"/>
              </a:lnSpc>
              <a:buFont typeface="Arial" panose="020B0604020202020204"/>
              <a:buChar char="•"/>
            </a:pPr>
            <a:r>
              <a:rPr lang="en-US" sz="45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Include Credit score of the customers.</a:t>
            </a:r>
            <a:endParaRPr lang="en-US" sz="450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971550" lvl="1" indent="-485775" algn="l">
              <a:lnSpc>
                <a:spcPts val="6300"/>
              </a:lnSpc>
              <a:buFont typeface="Arial" panose="020B0604020202020204"/>
              <a:buChar char="•"/>
            </a:pPr>
            <a:r>
              <a:rPr lang="en-US" sz="45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Extend the pilot project to tier 2 and tier 3 cities.</a:t>
            </a:r>
            <a:endParaRPr lang="en-US" sz="450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971550" lvl="1" indent="-485775" algn="l">
              <a:lnSpc>
                <a:spcPts val="6300"/>
              </a:lnSpc>
              <a:buFont typeface="Arial" panose="020B0604020202020204"/>
              <a:buChar char="•"/>
            </a:pPr>
            <a:r>
              <a:rPr lang="en-US" sz="45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Capture more payment methods - ATM withdrawals etc.</a:t>
            </a:r>
            <a:endParaRPr lang="en-US" sz="450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66927" y="-4280359"/>
            <a:ext cx="10812392" cy="10812392"/>
          </a:xfrm>
          <a:custGeom>
            <a:avLst/>
            <a:gdLst/>
            <a:ahLst/>
            <a:cxnLst/>
            <a:rect l="l" t="t" r="r" b="b"/>
            <a:pathLst>
              <a:path w="10812392" h="10812392">
                <a:moveTo>
                  <a:pt x="0" y="0"/>
                </a:moveTo>
                <a:lnTo>
                  <a:pt x="10812393" y="0"/>
                </a:lnTo>
                <a:lnTo>
                  <a:pt x="10812393" y="10812392"/>
                </a:lnTo>
                <a:lnTo>
                  <a:pt x="0" y="1081239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407200" y="4432068"/>
            <a:ext cx="5764383" cy="5764383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3"/>
                </a:lnTo>
                <a:lnTo>
                  <a:pt x="0" y="576438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7078" y="7902203"/>
            <a:ext cx="5764383" cy="5764383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2"/>
                </a:lnTo>
                <a:lnTo>
                  <a:pt x="0" y="576438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8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563407"/>
            <a:ext cx="3868662" cy="3868662"/>
          </a:xfrm>
          <a:custGeom>
            <a:avLst/>
            <a:gdLst/>
            <a:ahLst/>
            <a:cxnLst/>
            <a:rect l="l" t="t" r="r" b="b"/>
            <a:pathLst>
              <a:path w="3868662" h="3868662">
                <a:moveTo>
                  <a:pt x="0" y="0"/>
                </a:moveTo>
                <a:lnTo>
                  <a:pt x="3868662" y="0"/>
                </a:lnTo>
                <a:lnTo>
                  <a:pt x="3868662" y="3868661"/>
                </a:lnTo>
                <a:lnTo>
                  <a:pt x="0" y="38686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144000" y="6786274"/>
            <a:ext cx="7874231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</a:p>
        </p:txBody>
      </p:sp>
      <p:sp>
        <p:nvSpPr>
          <p:cNvPr id="7" name="TextBox 7"/>
          <p:cNvSpPr txBox="1"/>
          <p:nvPr/>
        </p:nvSpPr>
        <p:spPr>
          <a:xfrm>
            <a:off x="490589" y="3508816"/>
            <a:ext cx="4897362" cy="342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spcBef>
                <a:spcPct val="0"/>
              </a:spcBef>
            </a:pPr>
            <a:r>
              <a:rPr lang="en-US" sz="189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Where Trust Meets Innovation</a:t>
            </a:r>
            <a:endParaRPr lang="en-US" sz="189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895616" y="5019675"/>
            <a:ext cx="10363684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>
                <a:solidFill>
                  <a:srgbClr val="8D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Thank You</a:t>
            </a:r>
            <a:endParaRPr lang="en-US" sz="6500" b="1">
              <a:solidFill>
                <a:srgbClr val="8D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002660" y="8869357"/>
            <a:ext cx="8149596" cy="49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 b="1">
                <a:solidFill>
                  <a:srgbClr val="00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Mohammed Hashir</a:t>
            </a:r>
            <a:endParaRPr lang="en-US" sz="3500" b="1">
              <a:solidFill>
                <a:srgbClr val="00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2440</Words>
  <Application>WPS Presentation</Application>
  <PresentationFormat>On-screen Show (4:3)</PresentationFormat>
  <Paragraphs>185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Arial</vt:lpstr>
      <vt:lpstr>SimSun</vt:lpstr>
      <vt:lpstr>Wingdings</vt:lpstr>
      <vt:lpstr>Poppins</vt:lpstr>
      <vt:lpstr>Canva Sans Bold</vt:lpstr>
      <vt:lpstr>Poppins Bold</vt:lpstr>
      <vt:lpstr>Arial</vt:lpstr>
      <vt:lpstr>Canva Sans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MITHRON BANK</dc:title>
  <dc:creator/>
  <cp:lastModifiedBy>Hashir Mohammed</cp:lastModifiedBy>
  <cp:revision>2</cp:revision>
  <dcterms:created xsi:type="dcterms:W3CDTF">2006-08-16T00:00:00Z</dcterms:created>
  <dcterms:modified xsi:type="dcterms:W3CDTF">2025-07-18T11:06:15Z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6BBF52148B00452CB073AFD2D70D4DBE_12</vt:lpwstr>
  </property>
  <property fmtid="{D5CDD505-2E9C-101B-9397-08002B2CF9AE}" pid="3" name="KSOProductBuildVer">
    <vt:lpwstr>1033-12.2.0.21931</vt:lpwstr>
  </property>
</Properties>
</file>